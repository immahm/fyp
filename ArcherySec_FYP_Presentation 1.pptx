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FYP report: IR_TP077928_Immanuel_Miald_Mowad_Indrawes.docx.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FYP report: IR_TP077928_Immanuel_Miald_Mowad_Indrawes.docx.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FYP report: IR_TP077928_Immanuel_Miald_Mowad_Indrawes.docx.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FYP report: IR_TP077928_Immanuel_Miald_Mowad_Indrawes.docx.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FYP report: IR_TP077928_Immanuel_Miald_Mowad_Indrawes.docx.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FYP report: IR_TP077928_Immanuel_Miald_Mowad_Indrawes.docx.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FYP report: IR_TP077928_Immanuel_Miald_Mowad_Indrawes.docx.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FYP report: IR_TP077928_Immanuel_Miald_Mowad_Indrawes.docx.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FYP report: IR_TP077928_Immanuel_Miald_Mowad_Indrawes.docx.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FYP report: IR_TP077928_Immanuel_Miald_Mowad_Indrawes.docx.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FYP report: IR_TP077928_Immanuel_Miald_Mowad_Indrawes.docx.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FYP report: IR_TP077928_Immanuel_Miald_Mowad_Indrawes.docx.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FYP report: IR_TP077928_Immanuel_Miald_Mowad_Indrawes.docx.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1C"/>
          </a:solidFill>
          <a:ln w="12700">
            <a:solidFill>
              <a:srgbClr val="0712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mnt/data/the Logo circle itself.png"/>
          <p:cNvPicPr>
            <a:picLocks noChangeAspect="1"/>
          </p:cNvPicPr>
          <p:nvPr/>
        </p:nvPicPr>
        <p:blipFill>
          <a:blip r:embed="rId3"/>
          <a:srcRect l="22754" r="22754"/>
          <a:stretch/>
        </p:blipFill>
        <p:spPr>
          <a:xfrm>
            <a:off x="731520" y="594360"/>
            <a:ext cx="1920240" cy="1920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71800" y="9144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8FCFE"/>
                </a:solidFill>
              </a:rPr>
              <a:t>ARCHERYSEC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2971800" y="169164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D8D0"/>
                </a:solidFill>
              </a:rPr>
              <a:t>Enhanced Containerized Vulnerability Assessment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2ED8D0"/>
                </a:solidFill>
              </a:rPr>
              <a:t>and Scanning Platform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2999232" y="292608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FD0D8"/>
                </a:solidFill>
              </a:rPr>
              <a:t>Automated Scheduling  |  Multi-Scanner Orchestration  |  Rich Reporting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971800" y="3520440"/>
            <a:ext cx="7132320" cy="1"/>
          </a:xfrm>
          <a:prstGeom prst="line">
            <a:avLst/>
          </a:prstGeom>
          <a:noFill/>
          <a:ln w="25400">
            <a:solidFill>
              <a:srgbClr val="FF96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971800" y="3886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CFE"/>
                </a:solidFill>
              </a:rPr>
              <a:t>Immanuel Milad Moawad Indrawes  •  TP077928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971800" y="441655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0D8"/>
                </a:solidFill>
              </a:rPr>
              <a:t>B.Sc. (Hons) Computer Science (Cyber Security)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FD0D8"/>
                </a:solidFill>
              </a:rPr>
              <a:t>Supervisor: Ms. Noris Ismail  |  2nd Marker: Dr. Julia Juremi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971800" y="5897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D8D0"/>
                </a:solidFill>
              </a:rPr>
              <a:t>Asia Pacific University of Technology &amp; Innovation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D8D0"/>
          </a:solidFill>
          <a:ln w="12700">
            <a:solidFill>
              <a:srgbClr val="2E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CFE"/>
                </a:solidFill>
              </a:rPr>
              <a:t>Project Aim &amp;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77724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D0D8"/>
                </a:solidFill>
              </a:rPr>
              <a:t>What the project set out to achieve</a:t>
            </a:r>
            <a:endParaRPr lang="en-US" sz="1150" dirty="0"/>
          </a:p>
        </p:txBody>
      </p:sp>
      <p:pic>
        <p:nvPicPr>
          <p:cNvPr id="5" name="Image 0" descr="/mnt/data/the Logo circle itself.png"/>
          <p:cNvPicPr>
            <a:picLocks noChangeAspect="1"/>
          </p:cNvPicPr>
          <p:nvPr/>
        </p:nvPicPr>
        <p:blipFill>
          <a:blip r:embed="rId3"/>
          <a:srcRect l="22754" r="22754"/>
          <a:stretch/>
        </p:blipFill>
        <p:spPr>
          <a:xfrm>
            <a:off x="11292840" y="219456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53796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BFD0D8"/>
                </a:solidFill>
              </a:rPr>
              <a:t>ARCHERYSEC SAAS</a:t>
            </a:r>
            <a:endParaRPr lang="en-US" sz="840" dirty="0"/>
          </a:p>
        </p:txBody>
      </p:sp>
      <p:sp>
        <p:nvSpPr>
          <p:cNvPr id="7" name="Text 4"/>
          <p:cNvSpPr/>
          <p:nvPr/>
        </p:nvSpPr>
        <p:spPr>
          <a:xfrm>
            <a:off x="8869680" y="6537960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BFD0D8"/>
                </a:solidFill>
              </a:rPr>
              <a:t>TP077928  |  FYP PRESENTATION</a:t>
            </a:r>
            <a:endParaRPr lang="en-US" sz="840" dirty="0"/>
          </a:p>
        </p:txBody>
      </p:sp>
      <p:sp>
        <p:nvSpPr>
          <p:cNvPr id="8" name="Shape 5"/>
          <p:cNvSpPr/>
          <p:nvPr/>
        </p:nvSpPr>
        <p:spPr>
          <a:xfrm>
            <a:off x="548640" y="1234440"/>
            <a:ext cx="3749040" cy="4480560"/>
          </a:xfrm>
          <a:prstGeom prst="roundRect">
            <a:avLst/>
          </a:prstGeom>
          <a:solidFill>
            <a:srgbClr val="0E2230"/>
          </a:solidFill>
          <a:ln w="12700">
            <a:solidFill>
              <a:srgbClr val="315B6D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1234440"/>
            <a:ext cx="3749040" cy="73152"/>
          </a:xfrm>
          <a:prstGeom prst="rect">
            <a:avLst/>
          </a:prstGeom>
          <a:solidFill>
            <a:srgbClr val="FF9638"/>
          </a:solidFill>
          <a:ln w="12700">
            <a:solidFill>
              <a:srgbClr val="FF96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49808" y="1399032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638"/>
                </a:solidFill>
              </a:rPr>
              <a:t>PROJECT AIM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41248" y="1874520"/>
            <a:ext cx="3154680" cy="3291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8FCFE"/>
                </a:solidFill>
              </a:rPr>
              <a:t>To design and develop an improved ArcherySec vulnerability management system that strengthens scanning reliability, access governance, DevSecOps automation, and resilient digital infrastructure in alignment with SDG 9.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4526280" y="1234440"/>
            <a:ext cx="7086600" cy="4480560"/>
          </a:xfrm>
          <a:prstGeom prst="roundRect">
            <a:avLst/>
          </a:prstGeom>
          <a:solidFill>
            <a:srgbClr val="0E2230"/>
          </a:solidFill>
          <a:ln w="12700">
            <a:solidFill>
              <a:srgbClr val="315B6D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26280" y="1234440"/>
            <a:ext cx="7086600" cy="73152"/>
          </a:xfrm>
          <a:prstGeom prst="rect">
            <a:avLst/>
          </a:prstGeom>
          <a:solidFill>
            <a:srgbClr val="2ED8D0"/>
          </a:solidFill>
          <a:ln w="12700">
            <a:solidFill>
              <a:srgbClr val="2E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727448" y="1399032"/>
            <a:ext cx="6684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D8D0"/>
                </a:solidFill>
              </a:rPr>
              <a:t>FIVE OBJECTIVES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846320" y="1828800"/>
            <a:ext cx="6446520" cy="3520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CFE"/>
                </a:solidFill>
              </a:rPr>
              <a:t>Identify limitations of the existing ArcherySec platform.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CFE"/>
                </a:solidFill>
              </a:rPr>
              <a:t>Design a reproducible Docker and Docker Compose architecture.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CFE"/>
                </a:solidFill>
              </a:rPr>
              <a:t>Implement scanner orchestration, scheduling and configurable scans.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CFE"/>
                </a:solidFill>
              </a:rPr>
              <a:t>Improve normalization, CVSS-based scoring, reporting and RBAC.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CFE"/>
                </a:solidFill>
              </a:rPr>
              <a:t>Evaluate functionality, performance, effectiveness and SDG 9 alignment.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D8D0"/>
          </a:solidFill>
          <a:ln w="12700">
            <a:solidFill>
              <a:srgbClr val="2E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CFE"/>
                </a:solidFill>
              </a:rPr>
              <a:t>Questionnaire Findings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77724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D0D8"/>
                </a:solidFill>
              </a:rPr>
              <a:t>32 valid respondents informed the system requirements</a:t>
            </a:r>
            <a:endParaRPr lang="en-US" sz="1150" dirty="0"/>
          </a:p>
        </p:txBody>
      </p:sp>
      <p:pic>
        <p:nvPicPr>
          <p:cNvPr id="5" name="Image 0" descr="/mnt/data/the Logo circle itself.png"/>
          <p:cNvPicPr>
            <a:picLocks noChangeAspect="1"/>
          </p:cNvPicPr>
          <p:nvPr/>
        </p:nvPicPr>
        <p:blipFill>
          <a:blip r:embed="rId3"/>
          <a:srcRect l="22754" r="22754"/>
          <a:stretch/>
        </p:blipFill>
        <p:spPr>
          <a:xfrm>
            <a:off x="11292840" y="219456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53796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BFD0D8"/>
                </a:solidFill>
              </a:rPr>
              <a:t>ARCHERYSEC SAAS</a:t>
            </a:r>
            <a:endParaRPr lang="en-US" sz="840" dirty="0"/>
          </a:p>
        </p:txBody>
      </p:sp>
      <p:sp>
        <p:nvSpPr>
          <p:cNvPr id="7" name="Text 4"/>
          <p:cNvSpPr/>
          <p:nvPr/>
        </p:nvSpPr>
        <p:spPr>
          <a:xfrm>
            <a:off x="8869680" y="6537960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BFD0D8"/>
                </a:solidFill>
              </a:rPr>
              <a:t>TP077928  |  FYP PRESENTATION</a:t>
            </a:r>
            <a:endParaRPr lang="en-US" sz="840" dirty="0"/>
          </a:p>
        </p:txBody>
      </p:sp>
      <p:sp>
        <p:nvSpPr>
          <p:cNvPr id="8" name="Shape 5"/>
          <p:cNvSpPr/>
          <p:nvPr/>
        </p:nvSpPr>
        <p:spPr>
          <a:xfrm>
            <a:off x="548640" y="1234440"/>
            <a:ext cx="3657600" cy="4983480"/>
          </a:xfrm>
          <a:prstGeom prst="roundRect">
            <a:avLst/>
          </a:prstGeom>
          <a:solidFill>
            <a:srgbClr val="0E2230"/>
          </a:solidFill>
          <a:ln w="12700">
            <a:solidFill>
              <a:srgbClr val="315B6D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1234440"/>
            <a:ext cx="3657600" cy="73152"/>
          </a:xfrm>
          <a:prstGeom prst="rect">
            <a:avLst/>
          </a:prstGeom>
          <a:solidFill>
            <a:srgbClr val="FF9638"/>
          </a:solidFill>
          <a:ln w="12700">
            <a:solidFill>
              <a:srgbClr val="FF96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49808" y="1399032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638"/>
                </a:solidFill>
              </a:rPr>
              <a:t>RESPONDENT PROFILE</a:t>
            </a:r>
            <a:endParaRPr lang="en-US" sz="1500" dirty="0"/>
          </a:p>
        </p:txBody>
      </p:sp>
      <p:pic>
        <p:nvPicPr>
          <p:cNvPr id="11" name="Image 1" descr="/mnt/data/deck_work/word/media/image7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418080"/>
            <a:ext cx="3200400" cy="1244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448056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8FCFE"/>
                </a:solidFill>
              </a:rPr>
              <a:t>88% students, 6% lecturers and 6% IT/cybersecurity professionals.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434840" y="1234440"/>
            <a:ext cx="7178040" cy="4983480"/>
          </a:xfrm>
          <a:prstGeom prst="roundRect">
            <a:avLst/>
          </a:prstGeom>
          <a:solidFill>
            <a:srgbClr val="0E2230"/>
          </a:solidFill>
          <a:ln w="12700">
            <a:solidFill>
              <a:srgbClr val="315B6D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434840" y="1234440"/>
            <a:ext cx="7178040" cy="73152"/>
          </a:xfrm>
          <a:prstGeom prst="rect">
            <a:avLst/>
          </a:prstGeom>
          <a:solidFill>
            <a:srgbClr val="2ED8D0"/>
          </a:solidFill>
          <a:ln w="12700">
            <a:solidFill>
              <a:srgbClr val="2E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636008" y="1399032"/>
            <a:ext cx="6775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D8D0"/>
                </a:solidFill>
              </a:rPr>
              <a:t>CURRENT WORKFLOW CHALLENGES</a:t>
            </a:r>
            <a:endParaRPr lang="en-US" sz="1500" dirty="0"/>
          </a:p>
        </p:txBody>
      </p:sp>
      <p:pic>
        <p:nvPicPr>
          <p:cNvPr id="16" name="Image 2" descr="/mnt/data/deck_work/word/media/image8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2057787"/>
            <a:ext cx="6629400" cy="269670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00600" y="5166360"/>
            <a:ext cx="6446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8FCFE"/>
                </a:solidFill>
              </a:rPr>
              <a:t>Main issues: time-consuming work, too many manual steps, difficulty interpreting results, and execution errors.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D8D0"/>
          </a:solidFill>
          <a:ln w="12700">
            <a:solidFill>
              <a:srgbClr val="2E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CFE"/>
                </a:solidFill>
              </a:rPr>
              <a:t>Questionnaire Findings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77724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D0D8"/>
                </a:solidFill>
              </a:rPr>
              <a:t>Features and outputs most valued by respondents</a:t>
            </a:r>
            <a:endParaRPr lang="en-US" sz="1150" dirty="0"/>
          </a:p>
        </p:txBody>
      </p:sp>
      <p:pic>
        <p:nvPicPr>
          <p:cNvPr id="5" name="Image 0" descr="/mnt/data/the Logo circle itself.png"/>
          <p:cNvPicPr>
            <a:picLocks noChangeAspect="1"/>
          </p:cNvPicPr>
          <p:nvPr/>
        </p:nvPicPr>
        <p:blipFill>
          <a:blip r:embed="rId3"/>
          <a:srcRect l="22754" r="22754"/>
          <a:stretch/>
        </p:blipFill>
        <p:spPr>
          <a:xfrm>
            <a:off x="11292840" y="219456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53796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BFD0D8"/>
                </a:solidFill>
              </a:rPr>
              <a:t>ARCHERYSEC SAAS</a:t>
            </a:r>
            <a:endParaRPr lang="en-US" sz="840" dirty="0"/>
          </a:p>
        </p:txBody>
      </p:sp>
      <p:sp>
        <p:nvSpPr>
          <p:cNvPr id="7" name="Text 4"/>
          <p:cNvSpPr/>
          <p:nvPr/>
        </p:nvSpPr>
        <p:spPr>
          <a:xfrm>
            <a:off x="8869680" y="6537960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BFD0D8"/>
                </a:solidFill>
              </a:rPr>
              <a:t>TP077928  |  FYP PRESENTATION</a:t>
            </a:r>
            <a:endParaRPr lang="en-US" sz="840" dirty="0"/>
          </a:p>
        </p:txBody>
      </p:sp>
      <p:sp>
        <p:nvSpPr>
          <p:cNvPr id="8" name="Shape 5"/>
          <p:cNvSpPr/>
          <p:nvPr/>
        </p:nvSpPr>
        <p:spPr>
          <a:xfrm>
            <a:off x="548640" y="1234440"/>
            <a:ext cx="3703320" cy="4983480"/>
          </a:xfrm>
          <a:prstGeom prst="roundRect">
            <a:avLst/>
          </a:prstGeom>
          <a:solidFill>
            <a:srgbClr val="0E2230"/>
          </a:solidFill>
          <a:ln w="12700">
            <a:solidFill>
              <a:srgbClr val="315B6D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1234440"/>
            <a:ext cx="3703320" cy="73152"/>
          </a:xfrm>
          <a:prstGeom prst="rect">
            <a:avLst/>
          </a:prstGeom>
          <a:solidFill>
            <a:srgbClr val="2ED8D0"/>
          </a:solidFill>
          <a:ln w="12700">
            <a:solidFill>
              <a:srgbClr val="2E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49808" y="1399032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D8D0"/>
                </a:solidFill>
              </a:rPr>
              <a:t>MOST USEFUL FEATURES</a:t>
            </a:r>
            <a:endParaRPr lang="en-US" sz="1500" dirty="0"/>
          </a:p>
        </p:txBody>
      </p:sp>
      <p:pic>
        <p:nvPicPr>
          <p:cNvPr id="11" name="Image 1" descr="/mnt/data/deck_work/word/media/image9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702373"/>
            <a:ext cx="3246120" cy="13160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4672" y="50749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CFE"/>
                </a:solidFill>
              </a:rPr>
              <a:t>Automated analysis, severity classification, risk scoring and reporting received the strongest support.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434840" y="1234440"/>
            <a:ext cx="3520440" cy="4983480"/>
          </a:xfrm>
          <a:prstGeom prst="roundRect">
            <a:avLst/>
          </a:prstGeom>
          <a:solidFill>
            <a:srgbClr val="0E2230"/>
          </a:solidFill>
          <a:ln w="12700">
            <a:solidFill>
              <a:srgbClr val="315B6D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434840" y="1234440"/>
            <a:ext cx="3520440" cy="73152"/>
          </a:xfrm>
          <a:prstGeom prst="rect">
            <a:avLst/>
          </a:prstGeom>
          <a:solidFill>
            <a:srgbClr val="FF9638"/>
          </a:solidFill>
          <a:ln w="12700">
            <a:solidFill>
              <a:srgbClr val="FF96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636008" y="1399032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638"/>
                </a:solidFill>
              </a:rPr>
              <a:t>AUTOMATION</a:t>
            </a:r>
            <a:endParaRPr lang="en-US" sz="1500" dirty="0"/>
          </a:p>
        </p:txBody>
      </p:sp>
      <p:pic>
        <p:nvPicPr>
          <p:cNvPr id="16" name="Image 2" descr="/mnt/data/deck_work/word/media/image9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2955093"/>
            <a:ext cx="3063240" cy="81065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09160" y="507492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CFE"/>
                </a:solidFill>
              </a:rPr>
              <a:t>20 respondents rated automation as important or very important.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138160" y="1234440"/>
            <a:ext cx="3474720" cy="4983480"/>
          </a:xfrm>
          <a:prstGeom prst="roundRect">
            <a:avLst/>
          </a:prstGeom>
          <a:solidFill>
            <a:srgbClr val="0E2230"/>
          </a:solidFill>
          <a:ln w="12700">
            <a:solidFill>
              <a:srgbClr val="315B6D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8138160" y="1234440"/>
            <a:ext cx="3474720" cy="73152"/>
          </a:xfrm>
          <a:prstGeom prst="rect">
            <a:avLst/>
          </a:prstGeom>
          <a:solidFill>
            <a:srgbClr val="2ED8D0"/>
          </a:solidFill>
          <a:ln w="12700">
            <a:solidFill>
              <a:srgbClr val="2E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8339328" y="1399032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D8D0"/>
                </a:solidFill>
              </a:rPr>
              <a:t>OUTPUT FORMATS</a:t>
            </a:r>
            <a:endParaRPr lang="en-US" sz="1500" dirty="0"/>
          </a:p>
        </p:txBody>
      </p:sp>
      <p:pic>
        <p:nvPicPr>
          <p:cNvPr id="21" name="Image 3" descr="/mnt/data/deck_work/word/media/image9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2778937"/>
            <a:ext cx="3017520" cy="116296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12480" y="50749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CFE"/>
                </a:solidFill>
              </a:rPr>
              <a:t>PDF reports and dashboard visualizations were the preferred outputs.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D8D0"/>
          </a:solidFill>
          <a:ln w="12700">
            <a:solidFill>
              <a:srgbClr val="2E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CFE"/>
                </a:solidFill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77724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D0D8"/>
                </a:solidFill>
              </a:rPr>
              <a:t>Containerized, multi-tenant and scanner-oriented design</a:t>
            </a:r>
            <a:endParaRPr lang="en-US" sz="1150" dirty="0"/>
          </a:p>
        </p:txBody>
      </p:sp>
      <p:pic>
        <p:nvPicPr>
          <p:cNvPr id="5" name="Image 0" descr="/mnt/data/the Logo circle itself.png"/>
          <p:cNvPicPr>
            <a:picLocks noChangeAspect="1"/>
          </p:cNvPicPr>
          <p:nvPr/>
        </p:nvPicPr>
        <p:blipFill>
          <a:blip r:embed="rId3"/>
          <a:srcRect l="22754" r="22754"/>
          <a:stretch/>
        </p:blipFill>
        <p:spPr>
          <a:xfrm>
            <a:off x="11292840" y="219456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53796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BFD0D8"/>
                </a:solidFill>
              </a:rPr>
              <a:t>ARCHERYSEC SAAS</a:t>
            </a:r>
            <a:endParaRPr lang="en-US" sz="840" dirty="0"/>
          </a:p>
        </p:txBody>
      </p:sp>
      <p:sp>
        <p:nvSpPr>
          <p:cNvPr id="7" name="Text 4"/>
          <p:cNvSpPr/>
          <p:nvPr/>
        </p:nvSpPr>
        <p:spPr>
          <a:xfrm>
            <a:off x="8869680" y="6537960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BFD0D8"/>
                </a:solidFill>
              </a:rPr>
              <a:t>TP077928  |  FYP PRESENTATION</a:t>
            </a:r>
            <a:endParaRPr lang="en-US" sz="840" dirty="0"/>
          </a:p>
        </p:txBody>
      </p:sp>
      <p:sp>
        <p:nvSpPr>
          <p:cNvPr id="8" name="Shape 5"/>
          <p:cNvSpPr/>
          <p:nvPr/>
        </p:nvSpPr>
        <p:spPr>
          <a:xfrm>
            <a:off x="594360" y="1188720"/>
            <a:ext cx="11018520" cy="5166360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315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/mnt/data/deck_work/word/media/image9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4590" y="1353312"/>
            <a:ext cx="7198059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D8D0"/>
          </a:solidFill>
          <a:ln w="12700">
            <a:solidFill>
              <a:srgbClr val="2E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CFE"/>
                </a:solidFill>
              </a:rPr>
              <a:t>Database Design &amp; ERD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77724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D0D8"/>
                </a:solidFill>
              </a:rPr>
              <a:t>Core data entities and relationships</a:t>
            </a:r>
            <a:endParaRPr lang="en-US" sz="1150" dirty="0"/>
          </a:p>
        </p:txBody>
      </p:sp>
      <p:pic>
        <p:nvPicPr>
          <p:cNvPr id="5" name="Image 0" descr="/mnt/data/the Logo circle itself.png"/>
          <p:cNvPicPr>
            <a:picLocks noChangeAspect="1"/>
          </p:cNvPicPr>
          <p:nvPr/>
        </p:nvPicPr>
        <p:blipFill>
          <a:blip r:embed="rId3"/>
          <a:srcRect l="22754" r="22754"/>
          <a:stretch/>
        </p:blipFill>
        <p:spPr>
          <a:xfrm>
            <a:off x="11292840" y="219456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53796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BFD0D8"/>
                </a:solidFill>
              </a:rPr>
              <a:t>ARCHERYSEC SAAS</a:t>
            </a:r>
            <a:endParaRPr lang="en-US" sz="840" dirty="0"/>
          </a:p>
        </p:txBody>
      </p:sp>
      <p:sp>
        <p:nvSpPr>
          <p:cNvPr id="7" name="Text 4"/>
          <p:cNvSpPr/>
          <p:nvPr/>
        </p:nvSpPr>
        <p:spPr>
          <a:xfrm>
            <a:off x="8869680" y="6537960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BFD0D8"/>
                </a:solidFill>
              </a:rPr>
              <a:t>TP077928  |  FYP PRESENTATION</a:t>
            </a:r>
            <a:endParaRPr lang="en-US" sz="840" dirty="0"/>
          </a:p>
        </p:txBody>
      </p:sp>
      <p:sp>
        <p:nvSpPr>
          <p:cNvPr id="8" name="Shape 5"/>
          <p:cNvSpPr/>
          <p:nvPr/>
        </p:nvSpPr>
        <p:spPr>
          <a:xfrm>
            <a:off x="502920" y="1188720"/>
            <a:ext cx="11201400" cy="5212080"/>
          </a:xfrm>
          <a:prstGeom prst="roundRect">
            <a:avLst/>
          </a:prstGeom>
          <a:solidFill>
            <a:srgbClr val="F7F8FA"/>
          </a:solidFill>
          <a:ln w="15240">
            <a:solidFill>
              <a:srgbClr val="315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/mnt/data/deck_work/word/media/image1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0314" y="1371600"/>
            <a:ext cx="726661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D8D0"/>
          </a:solidFill>
          <a:ln w="12700">
            <a:solidFill>
              <a:srgbClr val="2E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CFE"/>
                </a:solidFill>
              </a:rPr>
              <a:t>Vulnerability Scan Execution 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77724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D0D8"/>
                </a:solidFill>
              </a:rPr>
              <a:t>From authenticated request to analyzed findings</a:t>
            </a:r>
            <a:endParaRPr lang="en-US" sz="1150" dirty="0"/>
          </a:p>
        </p:txBody>
      </p:sp>
      <p:pic>
        <p:nvPicPr>
          <p:cNvPr id="5" name="Image 0" descr="/mnt/data/the Logo circle itself.png"/>
          <p:cNvPicPr>
            <a:picLocks noChangeAspect="1"/>
          </p:cNvPicPr>
          <p:nvPr/>
        </p:nvPicPr>
        <p:blipFill>
          <a:blip r:embed="rId3"/>
          <a:srcRect l="22754" r="22754"/>
          <a:stretch/>
        </p:blipFill>
        <p:spPr>
          <a:xfrm>
            <a:off x="11292840" y="219456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53796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BFD0D8"/>
                </a:solidFill>
              </a:rPr>
              <a:t>ARCHERYSEC SAAS</a:t>
            </a:r>
            <a:endParaRPr lang="en-US" sz="840" dirty="0"/>
          </a:p>
        </p:txBody>
      </p:sp>
      <p:sp>
        <p:nvSpPr>
          <p:cNvPr id="7" name="Text 4"/>
          <p:cNvSpPr/>
          <p:nvPr/>
        </p:nvSpPr>
        <p:spPr>
          <a:xfrm>
            <a:off x="8869680" y="6537960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BFD0D8"/>
                </a:solidFill>
              </a:rPr>
              <a:t>TP077928  |  FYP PRESENTATION</a:t>
            </a:r>
            <a:endParaRPr lang="en-US" sz="840" dirty="0"/>
          </a:p>
        </p:txBody>
      </p:sp>
      <p:sp>
        <p:nvSpPr>
          <p:cNvPr id="8" name="Shape 5"/>
          <p:cNvSpPr/>
          <p:nvPr/>
        </p:nvSpPr>
        <p:spPr>
          <a:xfrm>
            <a:off x="566928" y="1170432"/>
            <a:ext cx="11064240" cy="5230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15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/mnt/data/deck_work/word/media/image1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4024" y="1353312"/>
            <a:ext cx="7239191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D8D0"/>
          </a:solidFill>
          <a:ln w="12700">
            <a:solidFill>
              <a:srgbClr val="2E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CFE"/>
                </a:solidFill>
              </a:rPr>
              <a:t>System Interface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77724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D0D8"/>
                </a:solidFill>
              </a:rPr>
              <a:t>Selected screens from the implemented platform</a:t>
            </a:r>
            <a:endParaRPr lang="en-US" sz="1150" dirty="0"/>
          </a:p>
        </p:txBody>
      </p:sp>
      <p:pic>
        <p:nvPicPr>
          <p:cNvPr id="5" name="Image 0" descr="/mnt/data/the Logo circle itself.png"/>
          <p:cNvPicPr>
            <a:picLocks noChangeAspect="1"/>
          </p:cNvPicPr>
          <p:nvPr/>
        </p:nvPicPr>
        <p:blipFill>
          <a:blip r:embed="rId3"/>
          <a:srcRect l="22754" r="22754"/>
          <a:stretch/>
        </p:blipFill>
        <p:spPr>
          <a:xfrm>
            <a:off x="11292840" y="219456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53796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BFD0D8"/>
                </a:solidFill>
              </a:rPr>
              <a:t>ARCHERYSEC SAAS</a:t>
            </a:r>
            <a:endParaRPr lang="en-US" sz="840" dirty="0"/>
          </a:p>
        </p:txBody>
      </p:sp>
      <p:sp>
        <p:nvSpPr>
          <p:cNvPr id="7" name="Text 4"/>
          <p:cNvSpPr/>
          <p:nvPr/>
        </p:nvSpPr>
        <p:spPr>
          <a:xfrm>
            <a:off x="8869680" y="6537960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BFD0D8"/>
                </a:solidFill>
              </a:rPr>
              <a:t>TP077928  |  FYP PRESENTATION</a:t>
            </a:r>
            <a:endParaRPr lang="en-US" sz="840" dirty="0"/>
          </a:p>
        </p:txBody>
      </p:sp>
      <p:sp>
        <p:nvSpPr>
          <p:cNvPr id="8" name="Shape 5"/>
          <p:cNvSpPr/>
          <p:nvPr/>
        </p:nvSpPr>
        <p:spPr>
          <a:xfrm>
            <a:off x="502920" y="1188720"/>
            <a:ext cx="3657600" cy="2240280"/>
          </a:xfrm>
          <a:prstGeom prst="roundRect">
            <a:avLst/>
          </a:prstGeom>
          <a:solidFill>
            <a:srgbClr val="0E2230"/>
          </a:solidFill>
          <a:ln w="12700">
            <a:solidFill>
              <a:srgbClr val="315B6D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02920" y="1188720"/>
            <a:ext cx="3657600" cy="73152"/>
          </a:xfrm>
          <a:prstGeom prst="rect">
            <a:avLst/>
          </a:prstGeom>
          <a:solidFill>
            <a:srgbClr val="2ED8D0"/>
          </a:solidFill>
          <a:ln w="12700">
            <a:solidFill>
              <a:srgbClr val="2E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04088" y="1353312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D8D0"/>
                </a:solidFill>
              </a:rPr>
              <a:t>Dashboard</a:t>
            </a:r>
            <a:endParaRPr lang="en-US" sz="1500" dirty="0"/>
          </a:p>
        </p:txBody>
      </p:sp>
      <p:pic>
        <p:nvPicPr>
          <p:cNvPr id="11" name="Image 1" descr="/mnt/data/deck_work/word/media/image2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1725647"/>
            <a:ext cx="3438144" cy="154133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389120" y="1188720"/>
            <a:ext cx="3657600" cy="2240280"/>
          </a:xfrm>
          <a:prstGeom prst="roundRect">
            <a:avLst/>
          </a:prstGeom>
          <a:solidFill>
            <a:srgbClr val="0E2230"/>
          </a:solidFill>
          <a:ln w="12700">
            <a:solidFill>
              <a:srgbClr val="315B6D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389120" y="1188720"/>
            <a:ext cx="3657600" cy="73152"/>
          </a:xfrm>
          <a:prstGeom prst="rect">
            <a:avLst/>
          </a:prstGeom>
          <a:solidFill>
            <a:srgbClr val="FF9638"/>
          </a:solidFill>
          <a:ln w="12700">
            <a:solidFill>
              <a:srgbClr val="FF96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590288" y="1353312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638"/>
                </a:solidFill>
              </a:rPr>
              <a:t>Launch Web Scan</a:t>
            </a:r>
            <a:endParaRPr lang="en-US" sz="1500" dirty="0"/>
          </a:p>
        </p:txBody>
      </p:sp>
      <p:pic>
        <p:nvPicPr>
          <p:cNvPr id="15" name="Image 2" descr="/mnt/data/deck_work/word/media/image2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336" y="1719072"/>
            <a:ext cx="3099168" cy="155448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275320" y="1188720"/>
            <a:ext cx="3657600" cy="2240280"/>
          </a:xfrm>
          <a:prstGeom prst="roundRect">
            <a:avLst/>
          </a:prstGeom>
          <a:solidFill>
            <a:srgbClr val="0E2230"/>
          </a:solidFill>
          <a:ln w="12700">
            <a:solidFill>
              <a:srgbClr val="315B6D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8275320" y="1188720"/>
            <a:ext cx="3657600" cy="73152"/>
          </a:xfrm>
          <a:prstGeom prst="rect">
            <a:avLst/>
          </a:prstGeom>
          <a:solidFill>
            <a:srgbClr val="2ED8D0"/>
          </a:solidFill>
          <a:ln w="12700">
            <a:solidFill>
              <a:srgbClr val="2E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8476488" y="1353312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D8D0"/>
                </a:solidFill>
              </a:rPr>
              <a:t>Launch Network Scan</a:t>
            </a:r>
            <a:endParaRPr lang="en-US" sz="1500" dirty="0"/>
          </a:p>
        </p:txBody>
      </p:sp>
      <p:pic>
        <p:nvPicPr>
          <p:cNvPr id="19" name="Image 3" descr="/mnt/data/deck_work/word/media/image2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3592" y="1719072"/>
            <a:ext cx="3101056" cy="155448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2920" y="3703320"/>
            <a:ext cx="3657600" cy="2240280"/>
          </a:xfrm>
          <a:prstGeom prst="roundRect">
            <a:avLst/>
          </a:prstGeom>
          <a:solidFill>
            <a:srgbClr val="0E2230"/>
          </a:solidFill>
          <a:ln w="12700">
            <a:solidFill>
              <a:srgbClr val="315B6D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502920" y="3703320"/>
            <a:ext cx="3657600" cy="73152"/>
          </a:xfrm>
          <a:prstGeom prst="rect">
            <a:avLst/>
          </a:prstGeom>
          <a:solidFill>
            <a:srgbClr val="FF9638"/>
          </a:solidFill>
          <a:ln w="12700">
            <a:solidFill>
              <a:srgbClr val="FF96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704088" y="3867912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638"/>
                </a:solidFill>
              </a:rPr>
              <a:t>Vulnerability Results</a:t>
            </a:r>
            <a:endParaRPr lang="en-US" sz="1500" dirty="0"/>
          </a:p>
        </p:txBody>
      </p:sp>
      <p:pic>
        <p:nvPicPr>
          <p:cNvPr id="23" name="Image 4" descr="/mnt/data/deck_work/word/media/image2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325" y="4233672"/>
            <a:ext cx="3268790" cy="155448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4389120" y="3703320"/>
            <a:ext cx="3657600" cy="2240280"/>
          </a:xfrm>
          <a:prstGeom prst="roundRect">
            <a:avLst/>
          </a:prstGeom>
          <a:solidFill>
            <a:srgbClr val="0E2230"/>
          </a:solidFill>
          <a:ln w="12700">
            <a:solidFill>
              <a:srgbClr val="315B6D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4389120" y="3703320"/>
            <a:ext cx="3657600" cy="73152"/>
          </a:xfrm>
          <a:prstGeom prst="rect">
            <a:avLst/>
          </a:prstGeom>
          <a:solidFill>
            <a:srgbClr val="2ED8D0"/>
          </a:solidFill>
          <a:ln w="12700">
            <a:solidFill>
              <a:srgbClr val="2E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/>
          <p:nvPr/>
        </p:nvSpPr>
        <p:spPr>
          <a:xfrm>
            <a:off x="4590288" y="3867912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D8D0"/>
                </a:solidFill>
              </a:rPr>
              <a:t>Scan Scheduling</a:t>
            </a:r>
            <a:endParaRPr lang="en-US" sz="1500" dirty="0"/>
          </a:p>
        </p:txBody>
      </p:sp>
      <p:pic>
        <p:nvPicPr>
          <p:cNvPr id="27" name="Image 5" descr="/mnt/data/deck_work/word/media/image21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6819" y="4233672"/>
            <a:ext cx="2322203" cy="155448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8275320" y="3703320"/>
            <a:ext cx="3657600" cy="2240280"/>
          </a:xfrm>
          <a:prstGeom prst="roundRect">
            <a:avLst/>
          </a:prstGeom>
          <a:solidFill>
            <a:srgbClr val="0E2230"/>
          </a:solidFill>
          <a:ln w="12700">
            <a:solidFill>
              <a:srgbClr val="315B6D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1"/>
          <p:cNvSpPr/>
          <p:nvPr/>
        </p:nvSpPr>
        <p:spPr>
          <a:xfrm>
            <a:off x="8275320" y="3703320"/>
            <a:ext cx="3657600" cy="73152"/>
          </a:xfrm>
          <a:prstGeom prst="rect">
            <a:avLst/>
          </a:prstGeom>
          <a:solidFill>
            <a:srgbClr val="FF9638"/>
          </a:solidFill>
          <a:ln w="12700">
            <a:solidFill>
              <a:srgbClr val="FF96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2"/>
          <p:cNvSpPr/>
          <p:nvPr/>
        </p:nvSpPr>
        <p:spPr>
          <a:xfrm>
            <a:off x="8476488" y="3867912"/>
            <a:ext cx="3255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638"/>
                </a:solidFill>
              </a:rPr>
              <a:t>Report Preview</a:t>
            </a:r>
            <a:endParaRPr lang="en-US" sz="1500" dirty="0"/>
          </a:p>
        </p:txBody>
      </p:sp>
      <p:pic>
        <p:nvPicPr>
          <p:cNvPr id="31" name="Image 6" descr="/mnt/data/deck_work/word/media/image21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2879" y="4233672"/>
            <a:ext cx="3202482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D8D0"/>
          </a:solidFill>
          <a:ln w="12700">
            <a:solidFill>
              <a:srgbClr val="2E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CFE"/>
                </a:solidFill>
              </a:rPr>
              <a:t>Testing &amp;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77724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D0D8"/>
                </a:solidFill>
              </a:rPr>
              <a:t>Unit, functional and stress testing evidence</a:t>
            </a:r>
            <a:endParaRPr lang="en-US" sz="1150" dirty="0"/>
          </a:p>
        </p:txBody>
      </p:sp>
      <p:pic>
        <p:nvPicPr>
          <p:cNvPr id="5" name="Image 0" descr="/mnt/data/the Logo circle itself.png"/>
          <p:cNvPicPr>
            <a:picLocks noChangeAspect="1"/>
          </p:cNvPicPr>
          <p:nvPr/>
        </p:nvPicPr>
        <p:blipFill>
          <a:blip r:embed="rId3"/>
          <a:srcRect l="22754" r="22754"/>
          <a:stretch/>
        </p:blipFill>
        <p:spPr>
          <a:xfrm>
            <a:off x="11292840" y="219456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53796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BFD0D8"/>
                </a:solidFill>
              </a:rPr>
              <a:t>ARCHERYSEC SAAS</a:t>
            </a:r>
            <a:endParaRPr lang="en-US" sz="840" dirty="0"/>
          </a:p>
        </p:txBody>
      </p:sp>
      <p:sp>
        <p:nvSpPr>
          <p:cNvPr id="7" name="Text 4"/>
          <p:cNvSpPr/>
          <p:nvPr/>
        </p:nvSpPr>
        <p:spPr>
          <a:xfrm>
            <a:off x="8869680" y="6537960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BFD0D8"/>
                </a:solidFill>
              </a:rPr>
              <a:t>TP077928  |  FYP PRESENTATION</a:t>
            </a:r>
            <a:endParaRPr lang="en-US" sz="840" dirty="0"/>
          </a:p>
        </p:txBody>
      </p:sp>
      <p:sp>
        <p:nvSpPr>
          <p:cNvPr id="8" name="Shape 5"/>
          <p:cNvSpPr/>
          <p:nvPr/>
        </p:nvSpPr>
        <p:spPr>
          <a:xfrm>
            <a:off x="566928" y="1261872"/>
            <a:ext cx="2057400" cy="1325880"/>
          </a:xfrm>
          <a:prstGeom prst="roundRect">
            <a:avLst/>
          </a:prstGeom>
          <a:solidFill>
            <a:srgbClr val="0E2230"/>
          </a:solidFill>
          <a:ln w="12700">
            <a:solidFill>
              <a:srgbClr val="315B6D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66928" y="1261872"/>
            <a:ext cx="2057400" cy="73152"/>
          </a:xfrm>
          <a:prstGeom prst="rect">
            <a:avLst/>
          </a:prstGeom>
          <a:solidFill>
            <a:srgbClr val="2ED8D0"/>
          </a:solidFill>
          <a:ln w="12700">
            <a:solidFill>
              <a:srgbClr val="2E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58368" y="153619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ED8D0"/>
                </a:solidFill>
              </a:rPr>
              <a:t>25 / 25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658368" y="205740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FD0D8"/>
                </a:solidFill>
              </a:rPr>
              <a:t>TESTS PASSED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871216" y="1261872"/>
            <a:ext cx="2057400" cy="1325880"/>
          </a:xfrm>
          <a:prstGeom prst="roundRect">
            <a:avLst/>
          </a:prstGeom>
          <a:solidFill>
            <a:srgbClr val="0E2230"/>
          </a:solidFill>
          <a:ln w="12700">
            <a:solidFill>
              <a:srgbClr val="315B6D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871216" y="1261872"/>
            <a:ext cx="2057400" cy="73152"/>
          </a:xfrm>
          <a:prstGeom prst="rect">
            <a:avLst/>
          </a:prstGeom>
          <a:solidFill>
            <a:srgbClr val="FF9638"/>
          </a:solidFill>
          <a:ln w="12700">
            <a:solidFill>
              <a:srgbClr val="FF96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962656" y="153619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9638"/>
                </a:solidFill>
              </a:rPr>
              <a:t>8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2962656" y="205740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FD0D8"/>
                </a:solidFill>
              </a:rPr>
              <a:t>DEFECTS CORRECTED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175504" y="1261872"/>
            <a:ext cx="2057400" cy="1325880"/>
          </a:xfrm>
          <a:prstGeom prst="roundRect">
            <a:avLst/>
          </a:prstGeom>
          <a:solidFill>
            <a:srgbClr val="0E2230"/>
          </a:solidFill>
          <a:ln w="12700">
            <a:solidFill>
              <a:srgbClr val="315B6D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175504" y="1261872"/>
            <a:ext cx="2057400" cy="73152"/>
          </a:xfrm>
          <a:prstGeom prst="rect">
            <a:avLst/>
          </a:prstGeom>
          <a:solidFill>
            <a:srgbClr val="2ED8D0"/>
          </a:solidFill>
          <a:ln w="12700">
            <a:solidFill>
              <a:srgbClr val="2E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266944" y="153619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ED8D0"/>
                </a:solidFill>
              </a:rPr>
              <a:t>9,000</a:t>
            </a:r>
            <a:endParaRPr lang="en-US" sz="2500" dirty="0"/>
          </a:p>
        </p:txBody>
      </p:sp>
      <p:sp>
        <p:nvSpPr>
          <p:cNvPr id="19" name="Text 16"/>
          <p:cNvSpPr/>
          <p:nvPr/>
        </p:nvSpPr>
        <p:spPr>
          <a:xfrm>
            <a:off x="5266944" y="205740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FD0D8"/>
                </a:solidFill>
              </a:rPr>
              <a:t>STRESS REQUESTS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479792" y="1261872"/>
            <a:ext cx="2057400" cy="1325880"/>
          </a:xfrm>
          <a:prstGeom prst="roundRect">
            <a:avLst/>
          </a:prstGeom>
          <a:solidFill>
            <a:srgbClr val="0E2230"/>
          </a:solidFill>
          <a:ln w="12700">
            <a:solidFill>
              <a:srgbClr val="315B6D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479792" y="1261872"/>
            <a:ext cx="2057400" cy="73152"/>
          </a:xfrm>
          <a:prstGeom prst="rect">
            <a:avLst/>
          </a:prstGeom>
          <a:solidFill>
            <a:srgbClr val="63E6A2"/>
          </a:solidFill>
          <a:ln w="12700">
            <a:solidFill>
              <a:srgbClr val="63E6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571232" y="153619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3E6A2"/>
                </a:solidFill>
              </a:rPr>
              <a:t>0.00%</a:t>
            </a:r>
            <a:endParaRPr lang="en-US" sz="2500" dirty="0"/>
          </a:p>
        </p:txBody>
      </p:sp>
      <p:sp>
        <p:nvSpPr>
          <p:cNvPr id="23" name="Text 20"/>
          <p:cNvSpPr/>
          <p:nvPr/>
        </p:nvSpPr>
        <p:spPr>
          <a:xfrm>
            <a:off x="7571232" y="205740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FD0D8"/>
                </a:solidFill>
              </a:rPr>
              <a:t>HTTP FAILURES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9784080" y="1261872"/>
            <a:ext cx="2057400" cy="1325880"/>
          </a:xfrm>
          <a:prstGeom prst="roundRect">
            <a:avLst/>
          </a:prstGeom>
          <a:solidFill>
            <a:srgbClr val="0E2230"/>
          </a:solidFill>
          <a:ln w="12700">
            <a:solidFill>
              <a:srgbClr val="315B6D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9784080" y="1261872"/>
            <a:ext cx="2057400" cy="73152"/>
          </a:xfrm>
          <a:prstGeom prst="rect">
            <a:avLst/>
          </a:prstGeom>
          <a:solidFill>
            <a:srgbClr val="FF9638"/>
          </a:solidFill>
          <a:ln w="12700">
            <a:solidFill>
              <a:srgbClr val="FF96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9875520" y="153619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F9638"/>
                </a:solidFill>
              </a:rPr>
              <a:t>1.15 s</a:t>
            </a:r>
            <a:endParaRPr lang="en-US" sz="2500" dirty="0"/>
          </a:p>
        </p:txBody>
      </p:sp>
      <p:sp>
        <p:nvSpPr>
          <p:cNvPr id="27" name="Text 24"/>
          <p:cNvSpPr/>
          <p:nvPr/>
        </p:nvSpPr>
        <p:spPr>
          <a:xfrm>
            <a:off x="9875520" y="205740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FD0D8"/>
                </a:solidFill>
              </a:rPr>
              <a:t>P95 AT 50 VUs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66928" y="2880360"/>
            <a:ext cx="5486400" cy="3063240"/>
          </a:xfrm>
          <a:prstGeom prst="roundRect">
            <a:avLst/>
          </a:prstGeom>
          <a:solidFill>
            <a:srgbClr val="0E2230"/>
          </a:solidFill>
          <a:ln w="12700">
            <a:solidFill>
              <a:srgbClr val="315B6D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566928" y="2880360"/>
            <a:ext cx="5486400" cy="73152"/>
          </a:xfrm>
          <a:prstGeom prst="rect">
            <a:avLst/>
          </a:prstGeom>
          <a:solidFill>
            <a:srgbClr val="2ED8D0"/>
          </a:solidFill>
          <a:ln w="12700">
            <a:solidFill>
              <a:srgbClr val="2E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68096" y="3044952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D8D0"/>
                </a:solidFill>
              </a:rPr>
              <a:t>BASELINE k6</a:t>
            </a:r>
            <a:endParaRPr lang="en-US" sz="1500" dirty="0"/>
          </a:p>
        </p:txBody>
      </p:sp>
      <p:pic>
        <p:nvPicPr>
          <p:cNvPr id="31" name="Image 1" descr="/mnt/data/deck_work/word/media/image2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4360" y="3456432"/>
            <a:ext cx="1840679" cy="2240280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6245352" y="2880360"/>
            <a:ext cx="5376672" cy="3063240"/>
          </a:xfrm>
          <a:prstGeom prst="roundRect">
            <a:avLst/>
          </a:prstGeom>
          <a:solidFill>
            <a:srgbClr val="0E2230"/>
          </a:solidFill>
          <a:ln w="12700">
            <a:solidFill>
              <a:srgbClr val="315B6D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6245352" y="2880360"/>
            <a:ext cx="5376672" cy="73152"/>
          </a:xfrm>
          <a:prstGeom prst="rect">
            <a:avLst/>
          </a:prstGeom>
          <a:solidFill>
            <a:srgbClr val="FF9638"/>
          </a:solidFill>
          <a:ln w="12700">
            <a:solidFill>
              <a:srgbClr val="FF96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6446520" y="3044952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638"/>
                </a:solidFill>
              </a:rPr>
              <a:t>MAIN STRESS TEST</a:t>
            </a:r>
            <a:endParaRPr lang="en-US" sz="1500" dirty="0"/>
          </a:p>
        </p:txBody>
      </p:sp>
      <p:pic>
        <p:nvPicPr>
          <p:cNvPr id="35" name="Image 2" descr="/mnt/data/deck_work/word/media/image23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0110" y="3456432"/>
            <a:ext cx="2136301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D8D0"/>
          </a:solidFill>
          <a:ln w="12700">
            <a:solidFill>
              <a:srgbClr val="2E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CFE"/>
                </a:solidFill>
              </a:rPr>
              <a:t>User Acceptance Testing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77724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D0D8"/>
                </a:solidFill>
              </a:rPr>
              <a:t>Three perspectives: lecturer, professional and student</a:t>
            </a:r>
            <a:endParaRPr lang="en-US" sz="1150" dirty="0"/>
          </a:p>
        </p:txBody>
      </p:sp>
      <p:pic>
        <p:nvPicPr>
          <p:cNvPr id="5" name="Image 0" descr="/mnt/data/the Logo circle itself.png"/>
          <p:cNvPicPr>
            <a:picLocks noChangeAspect="1"/>
          </p:cNvPicPr>
          <p:nvPr/>
        </p:nvPicPr>
        <p:blipFill>
          <a:blip r:embed="rId3"/>
          <a:srcRect l="22754" r="22754"/>
          <a:stretch/>
        </p:blipFill>
        <p:spPr>
          <a:xfrm>
            <a:off x="11292840" y="219456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53796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BFD0D8"/>
                </a:solidFill>
              </a:rPr>
              <a:t>ARCHERYSEC SAAS</a:t>
            </a:r>
            <a:endParaRPr lang="en-US" sz="840" dirty="0"/>
          </a:p>
        </p:txBody>
      </p:sp>
      <p:sp>
        <p:nvSpPr>
          <p:cNvPr id="7" name="Text 4"/>
          <p:cNvSpPr/>
          <p:nvPr/>
        </p:nvSpPr>
        <p:spPr>
          <a:xfrm>
            <a:off x="8869680" y="6537960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BFD0D8"/>
                </a:solidFill>
              </a:rPr>
              <a:t>TP077928  |  FYP PRESENTATION</a:t>
            </a:r>
            <a:endParaRPr lang="en-US" sz="840" dirty="0"/>
          </a:p>
        </p:txBody>
      </p:sp>
      <p:sp>
        <p:nvSpPr>
          <p:cNvPr id="8" name="Shape 5"/>
          <p:cNvSpPr/>
          <p:nvPr/>
        </p:nvSpPr>
        <p:spPr>
          <a:xfrm>
            <a:off x="640080" y="1325880"/>
            <a:ext cx="3611880" cy="4343400"/>
          </a:xfrm>
          <a:prstGeom prst="roundRect">
            <a:avLst/>
          </a:prstGeom>
          <a:solidFill>
            <a:srgbClr val="0E2230"/>
          </a:solidFill>
          <a:ln w="12700">
            <a:solidFill>
              <a:srgbClr val="315B6D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0080" y="1325880"/>
            <a:ext cx="3611880" cy="73152"/>
          </a:xfrm>
          <a:prstGeom prst="rect">
            <a:avLst/>
          </a:prstGeom>
          <a:solidFill>
            <a:srgbClr val="2ED8D0"/>
          </a:solidFill>
          <a:ln w="12700">
            <a:solidFill>
              <a:srgbClr val="2E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41248" y="1490472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D8D0"/>
                </a:solidFill>
              </a:rPr>
              <a:t>Tester 1 • Lecturer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05840" y="2048256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3E6A2"/>
                </a:solidFill>
              </a:rPr>
              <a:t>PASS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987552" y="2907792"/>
            <a:ext cx="292608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8FCFE"/>
                </a:solidFill>
              </a:rPr>
              <a:t>Dashboard, scanner integration and reporting accepted.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87552" y="4800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FD0D8"/>
                </a:solidFill>
              </a:rPr>
              <a:t>Overall UAT result: Accepted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26280" y="1325880"/>
            <a:ext cx="3611880" cy="4343400"/>
          </a:xfrm>
          <a:prstGeom prst="roundRect">
            <a:avLst/>
          </a:prstGeom>
          <a:solidFill>
            <a:srgbClr val="0E2230"/>
          </a:solidFill>
          <a:ln w="12700">
            <a:solidFill>
              <a:srgbClr val="315B6D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526280" y="1325880"/>
            <a:ext cx="3611880" cy="73152"/>
          </a:xfrm>
          <a:prstGeom prst="rect">
            <a:avLst/>
          </a:prstGeom>
          <a:solidFill>
            <a:srgbClr val="FF9638"/>
          </a:solidFill>
          <a:ln w="12700">
            <a:solidFill>
              <a:srgbClr val="FF96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727448" y="1490472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638"/>
                </a:solidFill>
              </a:rPr>
              <a:t>Tester 2 • Professional / Admin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892040" y="2048256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3E6A2"/>
                </a:solidFill>
              </a:rPr>
              <a:t>PASS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4873752" y="2907792"/>
            <a:ext cx="292608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8FCFE"/>
                </a:solidFill>
              </a:rPr>
              <a:t>RBAC, result ingestion and role-based views accepted.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873752" y="4800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FD0D8"/>
                </a:solidFill>
              </a:rPr>
              <a:t>Overall UAT result: Accepted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412480" y="1325880"/>
            <a:ext cx="3611880" cy="4343400"/>
          </a:xfrm>
          <a:prstGeom prst="roundRect">
            <a:avLst/>
          </a:prstGeom>
          <a:solidFill>
            <a:srgbClr val="0E2230"/>
          </a:solidFill>
          <a:ln w="12700">
            <a:solidFill>
              <a:srgbClr val="315B6D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8412480" y="1325880"/>
            <a:ext cx="3611880" cy="73152"/>
          </a:xfrm>
          <a:prstGeom prst="rect">
            <a:avLst/>
          </a:prstGeom>
          <a:solidFill>
            <a:srgbClr val="2ED8D0"/>
          </a:solidFill>
          <a:ln w="12700">
            <a:solidFill>
              <a:srgbClr val="2E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613648" y="1490472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D8D0"/>
                </a:solidFill>
              </a:rPr>
              <a:t>Tester 3 • Student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778240" y="2048256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3E6A2"/>
                </a:solidFill>
              </a:rPr>
              <a:t>PASS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8759952" y="2907792"/>
            <a:ext cx="292608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8FCFE"/>
                </a:solidFill>
              </a:rPr>
              <a:t>Severity indicators, filtering and visual summaries accepted.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759952" y="4800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FD0D8"/>
                </a:solidFill>
              </a:rPr>
              <a:t>Overall UAT result: Accepted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14400" y="58978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8FCFE"/>
                </a:solidFill>
              </a:rPr>
              <a:t>Main strengths identified: usability, dashboard clarity, vulnerability filtering, scanner result ingestion, role-based access and report generation.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D8D0"/>
          </a:solidFill>
          <a:ln w="12700">
            <a:solidFill>
              <a:srgbClr val="2E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CFE"/>
                </a:solidFill>
              </a:rPr>
              <a:t>Project Limitations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77724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D0D8"/>
                </a:solidFill>
              </a:rPr>
              <a:t>Key boundaries of the completed evaluation</a:t>
            </a:r>
            <a:endParaRPr lang="en-US" sz="1150" dirty="0"/>
          </a:p>
        </p:txBody>
      </p:sp>
      <p:pic>
        <p:nvPicPr>
          <p:cNvPr id="5" name="Image 0" descr="/mnt/data/the Logo circle itself.png"/>
          <p:cNvPicPr>
            <a:picLocks noChangeAspect="1"/>
          </p:cNvPicPr>
          <p:nvPr/>
        </p:nvPicPr>
        <p:blipFill>
          <a:blip r:embed="rId3"/>
          <a:srcRect l="22754" r="22754"/>
          <a:stretch/>
        </p:blipFill>
        <p:spPr>
          <a:xfrm>
            <a:off x="11292840" y="219456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53796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BFD0D8"/>
                </a:solidFill>
              </a:rPr>
              <a:t>ARCHERYSEC SAAS</a:t>
            </a:r>
            <a:endParaRPr lang="en-US" sz="840" dirty="0"/>
          </a:p>
        </p:txBody>
      </p:sp>
      <p:sp>
        <p:nvSpPr>
          <p:cNvPr id="7" name="Text 4"/>
          <p:cNvSpPr/>
          <p:nvPr/>
        </p:nvSpPr>
        <p:spPr>
          <a:xfrm>
            <a:off x="8869680" y="6537960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BFD0D8"/>
                </a:solidFill>
              </a:rPr>
              <a:t>TP077928  |  FYP PRESENTATION</a:t>
            </a:r>
            <a:endParaRPr lang="en-US" sz="840" dirty="0"/>
          </a:p>
        </p:txBody>
      </p:sp>
      <p:sp>
        <p:nvSpPr>
          <p:cNvPr id="8" name="Shape 5"/>
          <p:cNvSpPr/>
          <p:nvPr/>
        </p:nvSpPr>
        <p:spPr>
          <a:xfrm>
            <a:off x="594360" y="1280160"/>
            <a:ext cx="10972800" cy="4983480"/>
          </a:xfrm>
          <a:prstGeom prst="roundRect">
            <a:avLst/>
          </a:prstGeom>
          <a:solidFill>
            <a:srgbClr val="0E2230"/>
          </a:solidFill>
          <a:ln w="12700">
            <a:solidFill>
              <a:srgbClr val="315B6D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1280160"/>
            <a:ext cx="10972800" cy="73152"/>
          </a:xfrm>
          <a:prstGeom prst="rect">
            <a:avLst/>
          </a:prstGeom>
          <a:solidFill>
            <a:srgbClr val="FF9638"/>
          </a:solidFill>
          <a:ln w="12700">
            <a:solidFill>
              <a:srgbClr val="FF96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95528" y="1444752"/>
            <a:ext cx="10570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638"/>
                </a:solidFill>
              </a:rPr>
              <a:t>MAIN LIMITATIONS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1920240"/>
            <a:ext cx="10332720" cy="3794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8FCFE"/>
                </a:solidFill>
              </a:rPr>
              <a:t>Testing was conducted in a controlled local Windows 11 and Docker environment.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8FCFE"/>
                </a:solidFill>
              </a:rPr>
              <a:t>Response time increased under the 50-user workload, although all requests completed.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8FCFE"/>
                </a:solidFill>
              </a:rPr>
              <a:t>End-to-end verification depth differed across supported scanner integrations.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8FCFE"/>
                </a:solidFill>
              </a:rPr>
              <a:t>Scheduling initialization was verified, but complete timed execution needs broader observation.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8FCFE"/>
                </a:solidFill>
              </a:rPr>
              <a:t>UAT involved three representative participants.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F8FCFE"/>
                </a:solidFill>
              </a:rPr>
              <a:t>Production-scale deployment and security hardening remained outside the project scope.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D8D0"/>
          </a:solidFill>
          <a:ln w="12700">
            <a:solidFill>
              <a:srgbClr val="2E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27432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CFE"/>
                </a:solidFill>
              </a:rPr>
              <a:t>Future Enhancements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77724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FD0D8"/>
                </a:solidFill>
              </a:rPr>
              <a:t>Recommended directions for continued development</a:t>
            </a:r>
            <a:endParaRPr lang="en-US" sz="1150" dirty="0"/>
          </a:p>
        </p:txBody>
      </p:sp>
      <p:pic>
        <p:nvPicPr>
          <p:cNvPr id="5" name="Image 0" descr="/mnt/data/the Logo circle itself.png"/>
          <p:cNvPicPr>
            <a:picLocks noChangeAspect="1"/>
          </p:cNvPicPr>
          <p:nvPr/>
        </p:nvPicPr>
        <p:blipFill>
          <a:blip r:embed="rId3"/>
          <a:srcRect l="22754" r="22754"/>
          <a:stretch/>
        </p:blipFill>
        <p:spPr>
          <a:xfrm>
            <a:off x="11292840" y="219456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53796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BFD0D8"/>
                </a:solidFill>
              </a:rPr>
              <a:t>ARCHERYSEC SAAS</a:t>
            </a:r>
            <a:endParaRPr lang="en-US" sz="840" dirty="0"/>
          </a:p>
        </p:txBody>
      </p:sp>
      <p:sp>
        <p:nvSpPr>
          <p:cNvPr id="7" name="Text 4"/>
          <p:cNvSpPr/>
          <p:nvPr/>
        </p:nvSpPr>
        <p:spPr>
          <a:xfrm>
            <a:off x="8869680" y="6537960"/>
            <a:ext cx="2788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BFD0D8"/>
                </a:solidFill>
              </a:rPr>
              <a:t>TP077928  |  FYP PRESENTATION</a:t>
            </a:r>
            <a:endParaRPr lang="en-US" sz="840" dirty="0"/>
          </a:p>
        </p:txBody>
      </p:sp>
      <p:sp>
        <p:nvSpPr>
          <p:cNvPr id="8" name="Shape 5"/>
          <p:cNvSpPr/>
          <p:nvPr/>
        </p:nvSpPr>
        <p:spPr>
          <a:xfrm>
            <a:off x="594360" y="1280160"/>
            <a:ext cx="5349240" cy="4983480"/>
          </a:xfrm>
          <a:prstGeom prst="roundRect">
            <a:avLst/>
          </a:prstGeom>
          <a:solidFill>
            <a:srgbClr val="0E2230"/>
          </a:solidFill>
          <a:ln w="12700">
            <a:solidFill>
              <a:srgbClr val="315B6D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1280160"/>
            <a:ext cx="5349240" cy="73152"/>
          </a:xfrm>
          <a:prstGeom prst="rect">
            <a:avLst/>
          </a:prstGeom>
          <a:solidFill>
            <a:srgbClr val="2ED8D0"/>
          </a:solidFill>
          <a:ln w="12700">
            <a:solidFill>
              <a:srgbClr val="2ED8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95528" y="1444752"/>
            <a:ext cx="4946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D8D0"/>
                </a:solidFill>
              </a:rPr>
              <a:t>TECHNICAL ENHANCEMENTS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14400" y="1920240"/>
            <a:ext cx="470916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CFE"/>
                </a:solidFill>
              </a:rPr>
              <a:t>Optimize application and database performance.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CFE"/>
                </a:solidFill>
              </a:rPr>
              <a:t>Expand end-to-end validation for every scanner.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CFE"/>
                </a:solidFill>
              </a:rPr>
              <a:t>Strengthen automation and scheduled execution.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CFE"/>
                </a:solidFill>
              </a:rPr>
              <a:t>Prepare the platform for larger deployment environments.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199632" y="1280160"/>
            <a:ext cx="5394960" cy="4983480"/>
          </a:xfrm>
          <a:prstGeom prst="roundRect">
            <a:avLst/>
          </a:prstGeom>
          <a:solidFill>
            <a:srgbClr val="0E2230"/>
          </a:solidFill>
          <a:ln w="12700">
            <a:solidFill>
              <a:srgbClr val="315B6D"/>
            </a:solidFill>
            <a:prstDash val="solid"/>
          </a:ln>
          <a:effectLst>
            <a:outerShdw blurRad="1905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199632" y="1280160"/>
            <a:ext cx="5394960" cy="73152"/>
          </a:xfrm>
          <a:prstGeom prst="rect">
            <a:avLst/>
          </a:prstGeom>
          <a:solidFill>
            <a:srgbClr val="FF9638"/>
          </a:solidFill>
          <a:ln w="12700">
            <a:solidFill>
              <a:srgbClr val="FF96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00800" y="1444752"/>
            <a:ext cx="4992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638"/>
                </a:solidFill>
              </a:rPr>
              <a:t>USER &amp; PLATFORM ENHANCEMENTS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519672" y="1920240"/>
            <a:ext cx="4754880" cy="3566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CFE"/>
                </a:solidFill>
              </a:rPr>
              <a:t>Provide organization-specific report customization.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CFE"/>
                </a:solidFill>
              </a:rPr>
              <a:t>Evaluate additional security-assessment capabilities.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CFE"/>
                </a:solidFill>
              </a:rPr>
              <a:t>Extend testing to a larger and more diverse user group.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F8FCFE"/>
                </a:solidFill>
              </a:rPr>
              <a:t>Continue supporting resilient digital infrastructure under SDG 9.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2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the Logo circle itself.png"/>
          <p:cNvPicPr>
            <a:picLocks noChangeAspect="1"/>
          </p:cNvPicPr>
          <p:nvPr/>
        </p:nvPicPr>
        <p:blipFill>
          <a:blip r:embed="rId3"/>
          <a:srcRect l="22754" r="22754"/>
          <a:stretch/>
        </p:blipFill>
        <p:spPr>
          <a:xfrm>
            <a:off x="4892040" y="822960"/>
            <a:ext cx="2423160" cy="2423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0" y="3429000"/>
            <a:ext cx="8531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8FCFE"/>
                </a:solidFill>
              </a:rPr>
              <a:t>THANK YOU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1828800" y="4343400"/>
            <a:ext cx="8531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ED8D0"/>
                </a:solidFill>
              </a:rPr>
              <a:t>Questions &amp; Discussion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828800" y="5257800"/>
            <a:ext cx="8531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FD0D8"/>
                </a:solidFill>
              </a:rPr>
              <a:t>ArcherySec SaaS  •  Immanuel Milad Moawad Indrawes  •  TP077928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1013</Words>
  <Application>Microsoft Office PowerPoint</Application>
  <PresentationFormat>Widescreen</PresentationFormat>
  <Paragraphs>147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Asia Pacific University of Technology and Innovation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ArcherySec SaaS FYP Presentation</dc:title>
  <dc:subject>Final Year Project Presentation</dc:subject>
  <dc:creator>IMMANUEL MILAD MOAWAD INDRAWES</dc:creator>
  <cp:lastModifiedBy>IMMANUEL MILAD MOAWAD INDRAWES</cp:lastModifiedBy>
  <cp:revision>1</cp:revision>
  <dcterms:created xsi:type="dcterms:W3CDTF">2026-08-31T17:19:06Z</dcterms:created>
  <dcterms:modified xsi:type="dcterms:W3CDTF">2026-08-31T17:48:31Z</dcterms:modified>
</cp:coreProperties>
</file>