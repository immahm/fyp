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1396325" cy="30267275"/>
  <p:notesSz cx="30267275" cy="213963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6A4B47-1436-EDB5-092A-2CF30D985BA7}" v="202" dt="2026-08-31T10:33:20.459"/>
    <p1510:client id="{87919B65-F7F2-437E-A6C6-E229805706A1}" v="13" dt="2026-08-31T10:55:02.4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33" d="100"/>
          <a:sy n="33" d="100"/>
        </p:scale>
        <p:origin x="1637"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r>
              <a:rPr lang="en-US" dirty="0"/>
              <a:t>[Sources]
- User-provided ArcherySec logo, architecture diagram, and interface screenshots.
- Claims and results summarized from the user-provided FYP report.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21C"/>
        </a:solidFill>
        <a:effectLst/>
      </p:bgPr>
    </p:bg>
    <p:spTree>
      <p:nvGrpSpPr>
        <p:cNvPr id="1" name=""/>
        <p:cNvGrpSpPr/>
        <p:nvPr/>
      </p:nvGrpSpPr>
      <p:grpSpPr>
        <a:xfrm>
          <a:off x="0" y="0"/>
          <a:ext cx="1" cy="1"/>
          <a:chOff x="0" y="0"/>
          <a:chExt cx="1" cy="1"/>
        </a:xfrm>
      </p:grpSpPr>
      <p:sp>
        <p:nvSpPr>
          <p:cNvPr id="2" name="Shape 0"/>
          <p:cNvSpPr/>
          <p:nvPr/>
        </p:nvSpPr>
        <p:spPr>
          <a:xfrm>
            <a:off x="219456" y="219456"/>
            <a:ext cx="20958048" cy="29809440"/>
          </a:xfrm>
          <a:prstGeom prst="rect">
            <a:avLst/>
          </a:prstGeom>
          <a:solidFill>
            <a:srgbClr val="07121C">
              <a:alpha val="0"/>
            </a:srgbClr>
          </a:solidFill>
          <a:ln w="15240">
            <a:solidFill>
              <a:srgbClr val="315B6D"/>
            </a:solidFill>
            <a:prstDash val="solid"/>
          </a:ln>
        </p:spPr>
        <p:txBody>
          <a:bodyPr/>
          <a:lstStyle/>
          <a:p>
            <a:endParaRPr lang="en-US"/>
          </a:p>
        </p:txBody>
      </p:sp>
      <p:pic>
        <p:nvPicPr>
          <p:cNvPr id="5" name="Image 0" descr="/mnt/data/the Logo circle itself.png"/>
          <p:cNvPicPr>
            <a:picLocks noChangeAspect="1"/>
          </p:cNvPicPr>
          <p:nvPr/>
        </p:nvPicPr>
        <p:blipFill>
          <a:blip r:embed="rId3"/>
          <a:srcRect l="22754" r="22754"/>
          <a:stretch/>
        </p:blipFill>
        <p:spPr>
          <a:xfrm>
            <a:off x="18288000" y="365760"/>
            <a:ext cx="2286000" cy="2286000"/>
          </a:xfrm>
          <a:prstGeom prst="rect">
            <a:avLst/>
          </a:prstGeom>
        </p:spPr>
      </p:pic>
      <p:sp>
        <p:nvSpPr>
          <p:cNvPr id="8" name="Text 5"/>
          <p:cNvSpPr/>
          <p:nvPr/>
        </p:nvSpPr>
        <p:spPr>
          <a:xfrm>
            <a:off x="3855716" y="573258"/>
            <a:ext cx="12801600" cy="621792"/>
          </a:xfrm>
          <a:prstGeom prst="rect">
            <a:avLst/>
          </a:prstGeom>
          <a:noFill/>
          <a:ln/>
        </p:spPr>
        <p:txBody>
          <a:bodyPr wrap="square" lIns="0" tIns="0" rIns="0" bIns="0" rtlCol="0" anchor="ctr"/>
          <a:lstStyle/>
          <a:p>
            <a:pPr marL="0" indent="0" algn="ctr">
              <a:buNone/>
            </a:pPr>
            <a:r>
              <a:rPr lang="en-US" sz="3300" b="1" dirty="0">
                <a:solidFill>
                  <a:srgbClr val="F8FCFE"/>
                </a:solidFill>
              </a:rPr>
              <a:t>ArcherySec: Enhanced</a:t>
            </a:r>
            <a:endParaRPr lang="en-US" sz="3300" dirty="0"/>
          </a:p>
        </p:txBody>
      </p:sp>
      <p:sp>
        <p:nvSpPr>
          <p:cNvPr id="9" name="Text 6"/>
          <p:cNvSpPr/>
          <p:nvPr/>
        </p:nvSpPr>
        <p:spPr>
          <a:xfrm>
            <a:off x="3855716" y="1277346"/>
            <a:ext cx="12801600" cy="621792"/>
          </a:xfrm>
          <a:prstGeom prst="rect">
            <a:avLst/>
          </a:prstGeom>
          <a:noFill/>
          <a:ln/>
        </p:spPr>
        <p:txBody>
          <a:bodyPr wrap="square" lIns="0" tIns="0" rIns="0" bIns="0" rtlCol="0" anchor="ctr"/>
          <a:lstStyle/>
          <a:p>
            <a:pPr marL="0" indent="0" algn="ctr">
              <a:buNone/>
            </a:pPr>
            <a:r>
              <a:rPr lang="en-US" sz="3300" b="1" dirty="0">
                <a:solidFill>
                  <a:srgbClr val="F8FCFE"/>
                </a:solidFill>
              </a:rPr>
              <a:t>Containerized Vulnerability</a:t>
            </a:r>
            <a:endParaRPr lang="en-US" sz="3300" dirty="0"/>
          </a:p>
        </p:txBody>
      </p:sp>
      <p:sp>
        <p:nvSpPr>
          <p:cNvPr id="10" name="Text 7"/>
          <p:cNvSpPr/>
          <p:nvPr/>
        </p:nvSpPr>
        <p:spPr>
          <a:xfrm>
            <a:off x="3745518" y="1981434"/>
            <a:ext cx="13350240" cy="640080"/>
          </a:xfrm>
          <a:prstGeom prst="rect">
            <a:avLst/>
          </a:prstGeom>
          <a:noFill/>
          <a:ln/>
        </p:spPr>
        <p:txBody>
          <a:bodyPr wrap="square" lIns="0" tIns="0" rIns="0" bIns="0" rtlCol="0" anchor="ctr"/>
          <a:lstStyle/>
          <a:p>
            <a:pPr marL="0" indent="0" algn="ctr">
              <a:buNone/>
            </a:pPr>
            <a:r>
              <a:rPr lang="en-US" sz="3300" b="1" dirty="0">
                <a:solidFill>
                  <a:srgbClr val="F8FCFE"/>
                </a:solidFill>
              </a:rPr>
              <a:t>Assessment &amp; Scanning Platform</a:t>
            </a:r>
            <a:endParaRPr lang="en-US" sz="3300" dirty="0"/>
          </a:p>
        </p:txBody>
      </p:sp>
      <p:sp>
        <p:nvSpPr>
          <p:cNvPr id="11" name="Text 8"/>
          <p:cNvSpPr/>
          <p:nvPr/>
        </p:nvSpPr>
        <p:spPr>
          <a:xfrm>
            <a:off x="4170851" y="2669601"/>
            <a:ext cx="12422595" cy="469771"/>
          </a:xfrm>
          <a:prstGeom prst="rect">
            <a:avLst/>
          </a:prstGeom>
          <a:noFill/>
          <a:ln/>
        </p:spPr>
        <p:txBody>
          <a:bodyPr wrap="square" lIns="0" tIns="0" rIns="0" bIns="0" rtlCol="0" anchor="ctr">
            <a:normAutofit/>
          </a:bodyPr>
          <a:lstStyle/>
          <a:p>
            <a:pPr marL="0" indent="0" algn="ctr">
              <a:buNone/>
            </a:pPr>
            <a:r>
              <a:rPr lang="en-US" sz="2000" dirty="0">
                <a:solidFill>
                  <a:srgbClr val="F8FCFE"/>
                </a:solidFill>
              </a:rPr>
              <a:t>Multi-Scanner Orchestration, Automated Scheduling &amp; Transparent Risk Prioritization</a:t>
            </a:r>
            <a:endParaRPr lang="en-US" sz="2000" dirty="0"/>
          </a:p>
        </p:txBody>
      </p:sp>
      <p:sp>
        <p:nvSpPr>
          <p:cNvPr id="12" name="Text 9"/>
          <p:cNvSpPr/>
          <p:nvPr/>
        </p:nvSpPr>
        <p:spPr>
          <a:xfrm>
            <a:off x="2595995" y="3264037"/>
            <a:ext cx="15727680" cy="292608"/>
          </a:xfrm>
          <a:prstGeom prst="rect">
            <a:avLst/>
          </a:prstGeom>
          <a:noFill/>
          <a:ln/>
        </p:spPr>
        <p:txBody>
          <a:bodyPr wrap="square" lIns="0" tIns="0" rIns="0" bIns="0" rtlCol="0" anchor="ctr"/>
          <a:lstStyle/>
          <a:p>
            <a:pPr marL="0" indent="0" algn="ctr">
              <a:buNone/>
            </a:pPr>
            <a:r>
              <a:rPr lang="en-US" b="1" dirty="0">
                <a:solidFill>
                  <a:srgbClr val="F8FCFE"/>
                </a:solidFill>
              </a:rPr>
              <a:t>Immanuel Milad Moawad </a:t>
            </a:r>
            <a:r>
              <a:rPr lang="en-US" b="1" dirty="0" err="1">
                <a:solidFill>
                  <a:srgbClr val="F8FCFE"/>
                </a:solidFill>
              </a:rPr>
              <a:t>Indrawes</a:t>
            </a:r>
            <a:r>
              <a:rPr lang="en-US" b="1" dirty="0">
                <a:solidFill>
                  <a:srgbClr val="F8FCFE"/>
                </a:solidFill>
              </a:rPr>
              <a:t>  |  TP077928  |  APU3F2601CS(CYB)</a:t>
            </a:r>
            <a:endParaRPr lang="en-US" dirty="0"/>
          </a:p>
        </p:txBody>
      </p:sp>
      <p:sp>
        <p:nvSpPr>
          <p:cNvPr id="13" name="Text 10"/>
          <p:cNvSpPr/>
          <p:nvPr/>
        </p:nvSpPr>
        <p:spPr>
          <a:xfrm>
            <a:off x="2528478" y="3765261"/>
            <a:ext cx="15727680" cy="256032"/>
          </a:xfrm>
          <a:prstGeom prst="rect">
            <a:avLst/>
          </a:prstGeom>
          <a:noFill/>
          <a:ln/>
        </p:spPr>
        <p:txBody>
          <a:bodyPr wrap="square" lIns="0" tIns="0" rIns="0" bIns="0" rtlCol="0" anchor="ctr"/>
          <a:lstStyle/>
          <a:p>
            <a:pPr marL="0" indent="0" algn="ctr">
              <a:buNone/>
            </a:pPr>
            <a:r>
              <a:rPr lang="en-US" dirty="0">
                <a:solidFill>
                  <a:srgbClr val="C5D4DB"/>
                </a:solidFill>
              </a:rPr>
              <a:t>Supervisor: Ms. Noris Ismail  |  2nd Marker: Dr. Julia Juremi  |  2026</a:t>
            </a:r>
            <a:endParaRPr lang="en-US" dirty="0"/>
          </a:p>
        </p:txBody>
      </p:sp>
      <p:sp>
        <p:nvSpPr>
          <p:cNvPr id="14" name="Shape 11"/>
          <p:cNvSpPr/>
          <p:nvPr/>
        </p:nvSpPr>
        <p:spPr>
          <a:xfrm>
            <a:off x="658368" y="4572000"/>
            <a:ext cx="9976104" cy="4572000"/>
          </a:xfrm>
          <a:prstGeom prst="roundRect">
            <a:avLst/>
          </a:prstGeom>
          <a:solidFill>
            <a:srgbClr val="0D1E2B"/>
          </a:solidFill>
          <a:ln w="12700">
            <a:solidFill>
              <a:srgbClr val="315B6D"/>
            </a:solidFill>
            <a:prstDash val="solid"/>
          </a:ln>
          <a:effectLst>
            <a:outerShdw blurRad="17780" dist="6350" dir="2700000" algn="bl" rotWithShape="0">
              <a:srgbClr val="000000">
                <a:alpha val="15000"/>
              </a:srgbClr>
            </a:outerShdw>
          </a:effectLst>
        </p:spPr>
        <p:txBody>
          <a:bodyPr/>
          <a:lstStyle/>
          <a:p>
            <a:endParaRPr lang="en-US"/>
          </a:p>
        </p:txBody>
      </p:sp>
      <p:sp>
        <p:nvSpPr>
          <p:cNvPr id="20" name="Text 17"/>
          <p:cNvSpPr/>
          <p:nvPr/>
        </p:nvSpPr>
        <p:spPr>
          <a:xfrm>
            <a:off x="1045232" y="5618358"/>
            <a:ext cx="9098280" cy="3291840"/>
          </a:xfrm>
          <a:prstGeom prst="rect">
            <a:avLst/>
          </a:prstGeom>
          <a:noFill/>
          <a:ln/>
        </p:spPr>
        <p:txBody>
          <a:bodyPr wrap="square" lIns="635" tIns="635" rIns="635" bIns="635" rtlCol="0" anchor="t">
            <a:normAutofit/>
          </a:bodyPr>
          <a:lstStyle/>
          <a:p>
            <a:pPr marL="0" indent="0">
              <a:buNone/>
            </a:pPr>
            <a:r>
              <a:rPr lang="en-US" sz="2400" dirty="0">
                <a:solidFill>
                  <a:srgbClr val="F8FCFE"/>
                </a:solidFill>
              </a:rPr>
              <a:t>Traditional vulnerability management relies on isolated web and network scanners that produce inconsistent outputs. This causes duplicate findings, manual triage, fragmented reporting and uneven prioritization. Inconsistent deployment and limited access governance further reduce reliability. </a:t>
            </a:r>
            <a:r>
              <a:rPr lang="en-US" sz="2400" dirty="0" err="1">
                <a:solidFill>
                  <a:srgbClr val="F8FCFE"/>
                </a:solidFill>
              </a:rPr>
              <a:t>ArcherySec</a:t>
            </a:r>
            <a:r>
              <a:rPr lang="en-US" sz="2400" dirty="0">
                <a:solidFill>
                  <a:srgbClr val="F8FCFE"/>
                </a:solidFill>
              </a:rPr>
              <a:t> SaaS addresses these issues through centralized orchestration, secure multi-tenant access, automated scheduling and transparent risk analysis.</a:t>
            </a:r>
            <a:endParaRPr lang="en-US" sz="2400"/>
          </a:p>
        </p:txBody>
      </p:sp>
      <p:sp>
        <p:nvSpPr>
          <p:cNvPr id="21" name="Shape 18"/>
          <p:cNvSpPr/>
          <p:nvPr/>
        </p:nvSpPr>
        <p:spPr>
          <a:xfrm>
            <a:off x="10762488" y="4572000"/>
            <a:ext cx="9976104" cy="2560320"/>
          </a:xfrm>
          <a:prstGeom prst="roundRect">
            <a:avLst/>
          </a:prstGeom>
          <a:solidFill>
            <a:srgbClr val="0D1E2B"/>
          </a:solidFill>
          <a:ln w="12700">
            <a:solidFill>
              <a:srgbClr val="315B6D"/>
            </a:solidFill>
            <a:prstDash val="solid"/>
          </a:ln>
          <a:effectLst>
            <a:outerShdw blurRad="17780" dist="6350" dir="2700000" algn="bl" rotWithShape="0">
              <a:srgbClr val="000000">
                <a:alpha val="15000"/>
              </a:srgbClr>
            </a:outerShdw>
          </a:effectLst>
        </p:spPr>
        <p:txBody>
          <a:bodyPr/>
          <a:lstStyle/>
          <a:p>
            <a:endParaRPr lang="en-US"/>
          </a:p>
        </p:txBody>
      </p:sp>
      <p:sp>
        <p:nvSpPr>
          <p:cNvPr id="25" name="Shape 22"/>
          <p:cNvSpPr/>
          <p:nvPr/>
        </p:nvSpPr>
        <p:spPr>
          <a:xfrm flipV="1">
            <a:off x="20436840" y="7132321"/>
            <a:ext cx="345948" cy="45720"/>
          </a:xfrm>
          <a:prstGeom prst="line">
            <a:avLst/>
          </a:prstGeom>
          <a:noFill/>
          <a:ln w="30480">
            <a:solidFill>
              <a:srgbClr val="FF9638"/>
            </a:solidFill>
            <a:prstDash val="solid"/>
          </a:ln>
        </p:spPr>
        <p:txBody>
          <a:bodyPr/>
          <a:lstStyle/>
          <a:p>
            <a:endParaRPr lang="en-US"/>
          </a:p>
        </p:txBody>
      </p:sp>
      <p:sp>
        <p:nvSpPr>
          <p:cNvPr id="27" name="Text 24"/>
          <p:cNvSpPr/>
          <p:nvPr/>
        </p:nvSpPr>
        <p:spPr>
          <a:xfrm>
            <a:off x="11201400" y="5358384"/>
            <a:ext cx="9098280" cy="1298448"/>
          </a:xfrm>
          <a:prstGeom prst="rect">
            <a:avLst/>
          </a:prstGeom>
          <a:noFill/>
          <a:ln/>
        </p:spPr>
        <p:txBody>
          <a:bodyPr wrap="square" lIns="635" tIns="635" rIns="635" bIns="635" rtlCol="0" anchor="t">
            <a:noAutofit/>
          </a:bodyPr>
          <a:lstStyle/>
          <a:p>
            <a:pPr marL="0" indent="0">
              <a:buNone/>
            </a:pPr>
            <a:r>
              <a:rPr lang="en-US" sz="2400" dirty="0">
                <a:solidFill>
                  <a:srgbClr val="F8FCFE"/>
                </a:solidFill>
              </a:rPr>
              <a:t>To modernize </a:t>
            </a:r>
            <a:r>
              <a:rPr lang="en-US" sz="2400" dirty="0" err="1">
                <a:solidFill>
                  <a:srgbClr val="F8FCFE"/>
                </a:solidFill>
              </a:rPr>
              <a:t>ArcherySec</a:t>
            </a:r>
            <a:r>
              <a:rPr lang="en-US" sz="2400" dirty="0">
                <a:solidFill>
                  <a:srgbClr val="F8FCFE"/>
                </a:solidFill>
              </a:rPr>
              <a:t> into a reliable, containerized and governance-focused vulnerability management platform that unifies scanner execution, scheduling, secure access, result processing and structured reporting in alignment with SDG 9.</a:t>
            </a:r>
            <a:endParaRPr lang="en-US" sz="2400"/>
          </a:p>
        </p:txBody>
      </p:sp>
      <p:sp>
        <p:nvSpPr>
          <p:cNvPr id="28" name="Shape 25"/>
          <p:cNvSpPr/>
          <p:nvPr/>
        </p:nvSpPr>
        <p:spPr>
          <a:xfrm>
            <a:off x="10762488" y="7360920"/>
            <a:ext cx="9976104" cy="3200400"/>
          </a:xfrm>
          <a:prstGeom prst="roundRect">
            <a:avLst/>
          </a:prstGeom>
          <a:solidFill>
            <a:srgbClr val="0D1E2B"/>
          </a:solidFill>
          <a:ln w="12700">
            <a:solidFill>
              <a:srgbClr val="315B6D"/>
            </a:solidFill>
            <a:prstDash val="solid"/>
          </a:ln>
          <a:effectLst>
            <a:outerShdw blurRad="17780" dist="6350" dir="2700000" algn="bl" rotWithShape="0">
              <a:srgbClr val="000000">
                <a:alpha val="15000"/>
              </a:srgbClr>
            </a:outerShdw>
          </a:effectLst>
        </p:spPr>
        <p:txBody>
          <a:bodyPr/>
          <a:lstStyle/>
          <a:p>
            <a:endParaRPr lang="en-US"/>
          </a:p>
        </p:txBody>
      </p:sp>
      <p:sp>
        <p:nvSpPr>
          <p:cNvPr id="30" name="Shape 27"/>
          <p:cNvSpPr/>
          <p:nvPr/>
        </p:nvSpPr>
        <p:spPr>
          <a:xfrm flipV="1">
            <a:off x="20436840" y="7315198"/>
            <a:ext cx="370332" cy="45721"/>
          </a:xfrm>
          <a:prstGeom prst="line">
            <a:avLst/>
          </a:prstGeom>
          <a:noFill/>
          <a:ln w="30480">
            <a:solidFill>
              <a:srgbClr val="FF9638"/>
            </a:solidFill>
            <a:prstDash val="solid"/>
          </a:ln>
        </p:spPr>
        <p:txBody>
          <a:bodyPr/>
          <a:lstStyle/>
          <a:p>
            <a:endParaRPr lang="en-US"/>
          </a:p>
        </p:txBody>
      </p:sp>
      <p:sp>
        <p:nvSpPr>
          <p:cNvPr id="31" name="Shape 28"/>
          <p:cNvSpPr/>
          <p:nvPr/>
        </p:nvSpPr>
        <p:spPr>
          <a:xfrm>
            <a:off x="10808208" y="10469880"/>
            <a:ext cx="347472" cy="1"/>
          </a:xfrm>
          <a:prstGeom prst="line">
            <a:avLst/>
          </a:prstGeom>
          <a:noFill/>
          <a:ln w="30480">
            <a:solidFill>
              <a:srgbClr val="2ED8D0"/>
            </a:solidFill>
            <a:prstDash val="solid"/>
          </a:ln>
        </p:spPr>
        <p:txBody>
          <a:bodyPr/>
          <a:lstStyle/>
          <a:p>
            <a:endParaRPr lang="en-US"/>
          </a:p>
        </p:txBody>
      </p:sp>
      <p:sp>
        <p:nvSpPr>
          <p:cNvPr id="32" name="Shape 29"/>
          <p:cNvSpPr/>
          <p:nvPr/>
        </p:nvSpPr>
        <p:spPr>
          <a:xfrm flipV="1">
            <a:off x="20364196" y="10570463"/>
            <a:ext cx="356108" cy="71119"/>
          </a:xfrm>
          <a:prstGeom prst="line">
            <a:avLst/>
          </a:prstGeom>
          <a:noFill/>
          <a:ln w="30480">
            <a:solidFill>
              <a:srgbClr val="FF9638"/>
            </a:solidFill>
            <a:prstDash val="solid"/>
          </a:ln>
        </p:spPr>
        <p:txBody>
          <a:bodyPr/>
          <a:lstStyle/>
          <a:p>
            <a:endParaRPr lang="en-US"/>
          </a:p>
        </p:txBody>
      </p:sp>
      <p:sp>
        <p:nvSpPr>
          <p:cNvPr id="34" name="Text 31"/>
          <p:cNvSpPr/>
          <p:nvPr/>
        </p:nvSpPr>
        <p:spPr>
          <a:xfrm>
            <a:off x="11201400" y="8156448"/>
            <a:ext cx="9098280" cy="1874520"/>
          </a:xfrm>
          <a:prstGeom prst="rect">
            <a:avLst/>
          </a:prstGeom>
          <a:noFill/>
          <a:ln/>
        </p:spPr>
        <p:txBody>
          <a:bodyPr wrap="square" lIns="635" tIns="635" rIns="635" bIns="635" rtlCol="0" anchor="t">
            <a:noAutofit/>
          </a:bodyPr>
          <a:lstStyle/>
          <a:p>
            <a:pPr marL="0" indent="0">
              <a:buNone/>
            </a:pPr>
            <a:r>
              <a:rPr lang="en-US" sz="2400" dirty="0">
                <a:solidFill>
                  <a:srgbClr val="F8FCFE"/>
                </a:solidFill>
              </a:rPr>
              <a:t>The platform centralizes web and network scanning, RBAC, enrichment, prioritization and reporting. All 25 functional checks passed, all 9,000 stress-test requests completed with no HTTP failures, and all three UAT participants accepted the system. The result was Pass with Performance Limitations because p95 reached 1.15 seconds at 50 virtual users.</a:t>
            </a:r>
            <a:endParaRPr lang="en-US" sz="2400"/>
          </a:p>
        </p:txBody>
      </p:sp>
      <p:sp>
        <p:nvSpPr>
          <p:cNvPr id="35" name="Shape 32"/>
          <p:cNvSpPr/>
          <p:nvPr/>
        </p:nvSpPr>
        <p:spPr>
          <a:xfrm>
            <a:off x="658270" y="9320562"/>
            <a:ext cx="10496695" cy="7379777"/>
          </a:xfrm>
          <a:prstGeom prst="roundRect">
            <a:avLst/>
          </a:prstGeom>
          <a:solidFill>
            <a:srgbClr val="0D1E2B"/>
          </a:solidFill>
          <a:ln w="12700">
            <a:solidFill>
              <a:srgbClr val="315B6D"/>
            </a:solidFill>
            <a:prstDash val="solid"/>
          </a:ln>
          <a:effectLst>
            <a:outerShdw blurRad="17780" dist="6350" dir="2700000" algn="bl" rotWithShape="0">
              <a:srgbClr val="000000">
                <a:alpha val="15000"/>
              </a:srgbClr>
            </a:outerShdw>
          </a:effectLst>
        </p:spPr>
        <p:txBody>
          <a:bodyPr/>
          <a:lstStyle/>
          <a:p>
            <a:endParaRPr lang="en-US"/>
          </a:p>
        </p:txBody>
      </p:sp>
      <p:sp>
        <p:nvSpPr>
          <p:cNvPr id="38" name="Shape 35"/>
          <p:cNvSpPr/>
          <p:nvPr/>
        </p:nvSpPr>
        <p:spPr>
          <a:xfrm>
            <a:off x="704088" y="16504920"/>
            <a:ext cx="347472" cy="1"/>
          </a:xfrm>
          <a:prstGeom prst="line">
            <a:avLst/>
          </a:prstGeom>
          <a:noFill/>
          <a:ln w="30480">
            <a:solidFill>
              <a:srgbClr val="2ED8D0"/>
            </a:solidFill>
            <a:prstDash val="solid"/>
          </a:ln>
        </p:spPr>
        <p:txBody>
          <a:bodyPr/>
          <a:lstStyle/>
          <a:p>
            <a:endParaRPr lang="en-US"/>
          </a:p>
        </p:txBody>
      </p:sp>
      <p:sp>
        <p:nvSpPr>
          <p:cNvPr id="41" name="Text 38"/>
          <p:cNvSpPr/>
          <p:nvPr/>
        </p:nvSpPr>
        <p:spPr>
          <a:xfrm>
            <a:off x="1115568" y="10168128"/>
            <a:ext cx="9061704" cy="5852160"/>
          </a:xfrm>
          <a:prstGeom prst="rect">
            <a:avLst/>
          </a:prstGeom>
          <a:noFill/>
          <a:ln/>
        </p:spPr>
        <p:txBody>
          <a:bodyPr wrap="square" lIns="508" tIns="508" rIns="508" bIns="508" rtlCol="0" anchor="ctr">
            <a:normAutofit/>
          </a:bodyPr>
          <a:lstStyle/>
          <a:p>
            <a:pPr marL="215900" indent="-215900">
              <a:buSzPct val="100000"/>
              <a:buChar char="•"/>
            </a:pPr>
            <a:r>
              <a:rPr lang="en-US" sz="2800" dirty="0">
                <a:solidFill>
                  <a:srgbClr val="F8FCFE"/>
                </a:solidFill>
              </a:rPr>
              <a:t>Containerized Architecture: Reproducible Docker Compose deployment for the application, PostgreSQL and scanner services.</a:t>
            </a:r>
            <a:endParaRPr lang="en-US" sz="2800" dirty="0"/>
          </a:p>
          <a:p>
            <a:pPr marL="215900" indent="-215900">
              <a:buSzPct val="100000"/>
              <a:buChar char="•"/>
            </a:pPr>
            <a:r>
              <a:rPr lang="en-US" sz="2800" dirty="0">
                <a:solidFill>
                  <a:srgbClr val="F8FCFE"/>
                </a:solidFill>
              </a:rPr>
              <a:t>Scanner Orchestration: Coordinate OWASP ZAP, </a:t>
            </a:r>
            <a:r>
              <a:rPr lang="en-US" sz="2800" dirty="0" err="1">
                <a:solidFill>
                  <a:srgbClr val="F8FCFE"/>
                </a:solidFill>
              </a:rPr>
              <a:t>Nikto</a:t>
            </a:r>
            <a:r>
              <a:rPr lang="en-US" sz="2800" dirty="0">
                <a:solidFill>
                  <a:srgbClr val="F8FCFE"/>
                </a:solidFill>
              </a:rPr>
              <a:t>, Nmap and OpenVAS through one workflow.</a:t>
            </a:r>
            <a:endParaRPr lang="en-US" sz="2800" dirty="0"/>
          </a:p>
          <a:p>
            <a:pPr marL="215900" indent="-215900">
              <a:buSzPct val="100000"/>
              <a:buChar char="•"/>
            </a:pPr>
            <a:r>
              <a:rPr lang="en-US" sz="2800" dirty="0">
                <a:solidFill>
                  <a:srgbClr val="F8FCFE"/>
                </a:solidFill>
              </a:rPr>
              <a:t>Automation: Support configurable web and network scan scheduling.</a:t>
            </a:r>
            <a:endParaRPr lang="en-US" sz="2800" dirty="0"/>
          </a:p>
          <a:p>
            <a:pPr marL="215900" indent="-215900">
              <a:buSzPct val="100000"/>
              <a:buChar char="•"/>
            </a:pPr>
            <a:r>
              <a:rPr lang="en-US" sz="2800" dirty="0">
                <a:solidFill>
                  <a:srgbClr val="F8FCFE"/>
                </a:solidFill>
              </a:rPr>
              <a:t>Governance: Apply JWT, API-key authentication, RBAC and organization isolation.</a:t>
            </a:r>
            <a:endParaRPr lang="en-US" sz="2800" dirty="0"/>
          </a:p>
          <a:p>
            <a:pPr marL="215900" indent="-215900">
              <a:buSzPct val="100000"/>
              <a:buChar char="•"/>
            </a:pPr>
            <a:r>
              <a:rPr lang="en-US" sz="2800" dirty="0">
                <a:solidFill>
                  <a:srgbClr val="F8FCFE"/>
                </a:solidFill>
              </a:rPr>
              <a:t>Risk Analysis and Reporting: Apply CVSS, MITRE ATT&amp;CK, NVD context and rule-based prioritization.</a:t>
            </a:r>
            <a:endParaRPr lang="en-US" sz="2800" dirty="0"/>
          </a:p>
        </p:txBody>
      </p:sp>
      <p:sp>
        <p:nvSpPr>
          <p:cNvPr id="42" name="Shape 39"/>
          <p:cNvSpPr/>
          <p:nvPr/>
        </p:nvSpPr>
        <p:spPr>
          <a:xfrm>
            <a:off x="10177272" y="10661903"/>
            <a:ext cx="10561320" cy="6669021"/>
          </a:xfrm>
          <a:prstGeom prst="roundRect">
            <a:avLst/>
          </a:prstGeom>
          <a:solidFill>
            <a:srgbClr val="0D1E2B"/>
          </a:solidFill>
          <a:ln w="12700">
            <a:solidFill>
              <a:srgbClr val="315B6D"/>
            </a:solidFill>
            <a:prstDash val="solid"/>
          </a:ln>
          <a:effectLst>
            <a:outerShdw blurRad="17780" dist="6350" dir="2700000" algn="bl" rotWithShape="0">
              <a:srgbClr val="000000">
                <a:alpha val="15000"/>
              </a:srgbClr>
            </a:outerShdw>
          </a:effectLst>
        </p:spPr>
        <p:txBody>
          <a:bodyPr/>
          <a:lstStyle/>
          <a:p>
            <a:endParaRPr lang="en-US"/>
          </a:p>
        </p:txBody>
      </p:sp>
      <p:sp>
        <p:nvSpPr>
          <p:cNvPr id="44" name="Shape 41"/>
          <p:cNvSpPr/>
          <p:nvPr/>
        </p:nvSpPr>
        <p:spPr>
          <a:xfrm flipV="1">
            <a:off x="20413980" y="10731661"/>
            <a:ext cx="370332" cy="70103"/>
          </a:xfrm>
          <a:prstGeom prst="line">
            <a:avLst/>
          </a:prstGeom>
          <a:noFill/>
          <a:ln w="30480">
            <a:solidFill>
              <a:srgbClr val="FF9638"/>
            </a:solidFill>
            <a:prstDash val="solid"/>
          </a:ln>
        </p:spPr>
        <p:txBody>
          <a:bodyPr/>
          <a:lstStyle/>
          <a:p>
            <a:endParaRPr lang="en-US"/>
          </a:p>
        </p:txBody>
      </p:sp>
      <p:sp>
        <p:nvSpPr>
          <p:cNvPr id="46" name="Shape 43"/>
          <p:cNvSpPr/>
          <p:nvPr/>
        </p:nvSpPr>
        <p:spPr>
          <a:xfrm flipV="1">
            <a:off x="20635468" y="16708628"/>
            <a:ext cx="347472" cy="59943"/>
          </a:xfrm>
          <a:prstGeom prst="line">
            <a:avLst/>
          </a:prstGeom>
          <a:noFill/>
          <a:ln w="30480">
            <a:solidFill>
              <a:srgbClr val="FF9638"/>
            </a:solidFill>
            <a:prstDash val="solid"/>
          </a:ln>
        </p:spPr>
        <p:txBody>
          <a:bodyPr/>
          <a:lstStyle/>
          <a:p>
            <a:endParaRPr lang="en-US"/>
          </a:p>
        </p:txBody>
      </p:sp>
      <p:sp>
        <p:nvSpPr>
          <p:cNvPr id="48" name="Shape 45"/>
          <p:cNvSpPr/>
          <p:nvPr/>
        </p:nvSpPr>
        <p:spPr>
          <a:xfrm>
            <a:off x="10570464" y="11567159"/>
            <a:ext cx="9784080" cy="5160079"/>
          </a:xfrm>
          <a:prstGeom prst="roundRect">
            <a:avLst/>
          </a:prstGeom>
          <a:solidFill>
            <a:srgbClr val="F6F8FA"/>
          </a:solidFill>
          <a:ln w="10160">
            <a:solidFill>
              <a:srgbClr val="315B6D"/>
            </a:solidFill>
            <a:prstDash val="solid"/>
          </a:ln>
        </p:spPr>
        <p:txBody>
          <a:bodyPr/>
          <a:lstStyle/>
          <a:p>
            <a:endParaRPr lang="en-US"/>
          </a:p>
        </p:txBody>
      </p:sp>
      <p:pic>
        <p:nvPicPr>
          <p:cNvPr id="49" name="Image 1" descr="/mnt/data/94291da9c9.png"/>
          <p:cNvPicPr>
            <a:picLocks noChangeAspect="1"/>
          </p:cNvPicPr>
          <p:nvPr/>
        </p:nvPicPr>
        <p:blipFill>
          <a:blip r:embed="rId4"/>
          <a:stretch>
            <a:fillRect/>
          </a:stretch>
        </p:blipFill>
        <p:spPr>
          <a:xfrm>
            <a:off x="12609576" y="11704320"/>
            <a:ext cx="6281928" cy="4187952"/>
          </a:xfrm>
          <a:prstGeom prst="rect">
            <a:avLst/>
          </a:prstGeom>
        </p:spPr>
      </p:pic>
      <p:sp>
        <p:nvSpPr>
          <p:cNvPr id="50" name="Shape 46"/>
          <p:cNvSpPr/>
          <p:nvPr/>
        </p:nvSpPr>
        <p:spPr>
          <a:xfrm>
            <a:off x="658368" y="16870680"/>
            <a:ext cx="20080224" cy="2606040"/>
          </a:xfrm>
          <a:prstGeom prst="roundRect">
            <a:avLst/>
          </a:prstGeom>
          <a:solidFill>
            <a:srgbClr val="0D1E2B"/>
          </a:solidFill>
          <a:ln w="12700">
            <a:solidFill>
              <a:srgbClr val="315B6D"/>
            </a:solidFill>
            <a:prstDash val="solid"/>
          </a:ln>
          <a:effectLst>
            <a:outerShdw blurRad="17780" dist="6350" dir="2700000" algn="bl" rotWithShape="0">
              <a:srgbClr val="000000">
                <a:alpha val="15000"/>
              </a:srgbClr>
            </a:outerShdw>
          </a:effectLst>
        </p:spPr>
        <p:txBody>
          <a:bodyPr/>
          <a:lstStyle/>
          <a:p>
            <a:endParaRPr lang="en-US"/>
          </a:p>
        </p:txBody>
      </p:sp>
      <p:sp>
        <p:nvSpPr>
          <p:cNvPr id="51" name="Shape 47"/>
          <p:cNvSpPr/>
          <p:nvPr/>
        </p:nvSpPr>
        <p:spPr>
          <a:xfrm>
            <a:off x="658368" y="16746058"/>
            <a:ext cx="347472" cy="1"/>
          </a:xfrm>
          <a:prstGeom prst="line">
            <a:avLst/>
          </a:prstGeom>
          <a:noFill/>
          <a:ln w="30480">
            <a:solidFill>
              <a:srgbClr val="2ED8D0"/>
            </a:solidFill>
            <a:prstDash val="solid"/>
          </a:ln>
        </p:spPr>
        <p:txBody>
          <a:bodyPr/>
          <a:lstStyle/>
          <a:p>
            <a:endParaRPr lang="en-US"/>
          </a:p>
        </p:txBody>
      </p:sp>
      <p:sp>
        <p:nvSpPr>
          <p:cNvPr id="52" name="Shape 48"/>
          <p:cNvSpPr/>
          <p:nvPr/>
        </p:nvSpPr>
        <p:spPr>
          <a:xfrm flipV="1">
            <a:off x="20671536" y="16878972"/>
            <a:ext cx="311404" cy="59942"/>
          </a:xfrm>
          <a:prstGeom prst="line">
            <a:avLst/>
          </a:prstGeom>
          <a:noFill/>
          <a:ln w="30480">
            <a:solidFill>
              <a:srgbClr val="FF9638"/>
            </a:solidFill>
            <a:prstDash val="solid"/>
          </a:ln>
        </p:spPr>
        <p:txBody>
          <a:bodyPr/>
          <a:lstStyle/>
          <a:p>
            <a:endParaRPr lang="en-US"/>
          </a:p>
        </p:txBody>
      </p:sp>
      <p:sp>
        <p:nvSpPr>
          <p:cNvPr id="53" name="Shape 49"/>
          <p:cNvSpPr/>
          <p:nvPr/>
        </p:nvSpPr>
        <p:spPr>
          <a:xfrm>
            <a:off x="683857" y="19601340"/>
            <a:ext cx="347472" cy="1"/>
          </a:xfrm>
          <a:prstGeom prst="line">
            <a:avLst/>
          </a:prstGeom>
          <a:noFill/>
          <a:ln w="30480">
            <a:solidFill>
              <a:srgbClr val="2ED8D0"/>
            </a:solidFill>
            <a:prstDash val="solid"/>
          </a:ln>
        </p:spPr>
        <p:txBody>
          <a:bodyPr/>
          <a:lstStyle/>
          <a:p>
            <a:endParaRPr lang="en-US"/>
          </a:p>
        </p:txBody>
      </p:sp>
      <p:sp>
        <p:nvSpPr>
          <p:cNvPr id="54" name="Shape 50"/>
          <p:cNvSpPr/>
          <p:nvPr/>
        </p:nvSpPr>
        <p:spPr>
          <a:xfrm flipV="1">
            <a:off x="20340828" y="19672725"/>
            <a:ext cx="347472" cy="8207"/>
          </a:xfrm>
          <a:prstGeom prst="line">
            <a:avLst/>
          </a:prstGeom>
          <a:noFill/>
          <a:ln w="30480">
            <a:solidFill>
              <a:srgbClr val="FF9638"/>
            </a:solidFill>
            <a:prstDash val="solid"/>
          </a:ln>
        </p:spPr>
        <p:txBody>
          <a:bodyPr/>
          <a:lstStyle/>
          <a:p>
            <a:endParaRPr lang="en-US"/>
          </a:p>
        </p:txBody>
      </p:sp>
      <p:sp>
        <p:nvSpPr>
          <p:cNvPr id="56" name="Text 52"/>
          <p:cNvSpPr/>
          <p:nvPr/>
        </p:nvSpPr>
        <p:spPr>
          <a:xfrm>
            <a:off x="1208180" y="18093394"/>
            <a:ext cx="3246120" cy="475488"/>
          </a:xfrm>
          <a:prstGeom prst="rect">
            <a:avLst/>
          </a:prstGeom>
          <a:noFill/>
          <a:ln/>
        </p:spPr>
        <p:txBody>
          <a:bodyPr wrap="square" lIns="0" tIns="0" rIns="0" bIns="0" rtlCol="0" anchor="ctr"/>
          <a:lstStyle/>
          <a:p>
            <a:pPr marL="0" indent="0" algn="ctr">
              <a:buNone/>
            </a:pPr>
            <a:r>
              <a:rPr lang="en-US" sz="2650" b="1" dirty="0">
                <a:solidFill>
                  <a:srgbClr val="2ED8D0"/>
                </a:solidFill>
              </a:rPr>
              <a:t>25 / 25</a:t>
            </a:r>
            <a:endParaRPr lang="en-US" sz="2650" dirty="0"/>
          </a:p>
        </p:txBody>
      </p:sp>
      <p:sp>
        <p:nvSpPr>
          <p:cNvPr id="57" name="Text 53"/>
          <p:cNvSpPr/>
          <p:nvPr/>
        </p:nvSpPr>
        <p:spPr>
          <a:xfrm>
            <a:off x="1208180" y="18669466"/>
            <a:ext cx="3246120" cy="228600"/>
          </a:xfrm>
          <a:prstGeom prst="rect">
            <a:avLst/>
          </a:prstGeom>
          <a:noFill/>
          <a:ln/>
        </p:spPr>
        <p:txBody>
          <a:bodyPr wrap="square" lIns="0" tIns="0" rIns="0" bIns="0" rtlCol="0" anchor="ctr"/>
          <a:lstStyle/>
          <a:p>
            <a:pPr marL="0" indent="0" algn="ctr">
              <a:buNone/>
            </a:pPr>
            <a:r>
              <a:rPr lang="en-US" sz="2000" b="1" dirty="0">
                <a:solidFill>
                  <a:srgbClr val="C5D4DB"/>
                </a:solidFill>
              </a:rPr>
              <a:t>UNIT TESTS</a:t>
            </a:r>
            <a:endParaRPr lang="en-US" sz="2000"/>
          </a:p>
        </p:txBody>
      </p:sp>
      <p:sp>
        <p:nvSpPr>
          <p:cNvPr id="58" name="Text 54"/>
          <p:cNvSpPr/>
          <p:nvPr/>
        </p:nvSpPr>
        <p:spPr>
          <a:xfrm>
            <a:off x="5094380" y="18093394"/>
            <a:ext cx="3246120" cy="475488"/>
          </a:xfrm>
          <a:prstGeom prst="rect">
            <a:avLst/>
          </a:prstGeom>
          <a:noFill/>
          <a:ln/>
        </p:spPr>
        <p:txBody>
          <a:bodyPr wrap="square" lIns="0" tIns="0" rIns="0" bIns="0" rtlCol="0" anchor="ctr"/>
          <a:lstStyle/>
          <a:p>
            <a:pPr marL="0" indent="0" algn="ctr">
              <a:buNone/>
            </a:pPr>
            <a:r>
              <a:rPr lang="en-US" sz="2650" b="1" dirty="0">
                <a:solidFill>
                  <a:srgbClr val="FF9638"/>
                </a:solidFill>
              </a:rPr>
              <a:t>9,000</a:t>
            </a:r>
            <a:endParaRPr lang="en-US" sz="2650" dirty="0"/>
          </a:p>
        </p:txBody>
      </p:sp>
      <p:sp>
        <p:nvSpPr>
          <p:cNvPr id="59" name="Text 55"/>
          <p:cNvSpPr/>
          <p:nvPr/>
        </p:nvSpPr>
        <p:spPr>
          <a:xfrm>
            <a:off x="5094380" y="18669466"/>
            <a:ext cx="3246120" cy="228600"/>
          </a:xfrm>
          <a:prstGeom prst="rect">
            <a:avLst/>
          </a:prstGeom>
          <a:noFill/>
          <a:ln/>
        </p:spPr>
        <p:txBody>
          <a:bodyPr wrap="square" lIns="0" tIns="0" rIns="0" bIns="0" rtlCol="0" anchor="ctr"/>
          <a:lstStyle/>
          <a:p>
            <a:pPr marL="0" indent="0" algn="ctr">
              <a:buNone/>
            </a:pPr>
            <a:r>
              <a:rPr lang="en-US" b="1" dirty="0">
                <a:solidFill>
                  <a:srgbClr val="C5D4DB"/>
                </a:solidFill>
              </a:rPr>
              <a:t>REQUESTS</a:t>
            </a:r>
            <a:endParaRPr lang="en-US"/>
          </a:p>
        </p:txBody>
      </p:sp>
      <p:sp>
        <p:nvSpPr>
          <p:cNvPr id="60" name="Text 56"/>
          <p:cNvSpPr/>
          <p:nvPr/>
        </p:nvSpPr>
        <p:spPr>
          <a:xfrm>
            <a:off x="8980580" y="18093394"/>
            <a:ext cx="3246120" cy="475488"/>
          </a:xfrm>
          <a:prstGeom prst="rect">
            <a:avLst/>
          </a:prstGeom>
          <a:noFill/>
          <a:ln/>
        </p:spPr>
        <p:txBody>
          <a:bodyPr wrap="square" lIns="0" tIns="0" rIns="0" bIns="0" rtlCol="0" anchor="ctr"/>
          <a:lstStyle/>
          <a:p>
            <a:pPr marL="0" indent="0" algn="ctr">
              <a:buNone/>
            </a:pPr>
            <a:r>
              <a:rPr lang="en-US" sz="2650" b="1" dirty="0">
                <a:solidFill>
                  <a:srgbClr val="2ED8D0"/>
                </a:solidFill>
              </a:rPr>
              <a:t>0.00%</a:t>
            </a:r>
            <a:endParaRPr lang="en-US" sz="2650" dirty="0"/>
          </a:p>
        </p:txBody>
      </p:sp>
      <p:sp>
        <p:nvSpPr>
          <p:cNvPr id="61" name="Text 57"/>
          <p:cNvSpPr/>
          <p:nvPr/>
        </p:nvSpPr>
        <p:spPr>
          <a:xfrm>
            <a:off x="8980580" y="18669466"/>
            <a:ext cx="3246120" cy="228600"/>
          </a:xfrm>
          <a:prstGeom prst="rect">
            <a:avLst/>
          </a:prstGeom>
          <a:noFill/>
          <a:ln/>
        </p:spPr>
        <p:txBody>
          <a:bodyPr wrap="square" lIns="0" tIns="0" rIns="0" bIns="0" rtlCol="0" anchor="ctr"/>
          <a:lstStyle/>
          <a:p>
            <a:pPr marL="0" indent="0" algn="ctr">
              <a:buNone/>
            </a:pPr>
            <a:r>
              <a:rPr lang="en-US" sz="1600" b="1" dirty="0">
                <a:solidFill>
                  <a:srgbClr val="C5D4DB"/>
                </a:solidFill>
              </a:rPr>
              <a:t>HTTP FAILURES</a:t>
            </a:r>
            <a:endParaRPr lang="en-US" sz="1600"/>
          </a:p>
        </p:txBody>
      </p:sp>
      <p:sp>
        <p:nvSpPr>
          <p:cNvPr id="62" name="Text 58"/>
          <p:cNvSpPr/>
          <p:nvPr/>
        </p:nvSpPr>
        <p:spPr>
          <a:xfrm>
            <a:off x="12866780" y="18093394"/>
            <a:ext cx="3246120" cy="475488"/>
          </a:xfrm>
          <a:prstGeom prst="rect">
            <a:avLst/>
          </a:prstGeom>
          <a:noFill/>
          <a:ln/>
        </p:spPr>
        <p:txBody>
          <a:bodyPr wrap="square" lIns="0" tIns="0" rIns="0" bIns="0" rtlCol="0" anchor="ctr"/>
          <a:lstStyle/>
          <a:p>
            <a:pPr marL="0" indent="0" algn="ctr">
              <a:buNone/>
            </a:pPr>
            <a:r>
              <a:rPr lang="en-US" sz="2650" b="1" dirty="0">
                <a:solidFill>
                  <a:srgbClr val="FF9638"/>
                </a:solidFill>
              </a:rPr>
              <a:t>1.15 s</a:t>
            </a:r>
            <a:endParaRPr lang="en-US" sz="2650" dirty="0"/>
          </a:p>
        </p:txBody>
      </p:sp>
      <p:sp>
        <p:nvSpPr>
          <p:cNvPr id="63" name="Text 59"/>
          <p:cNvSpPr/>
          <p:nvPr/>
        </p:nvSpPr>
        <p:spPr>
          <a:xfrm>
            <a:off x="12866780" y="18669466"/>
            <a:ext cx="3246120" cy="228600"/>
          </a:xfrm>
          <a:prstGeom prst="rect">
            <a:avLst/>
          </a:prstGeom>
          <a:noFill/>
          <a:ln/>
        </p:spPr>
        <p:txBody>
          <a:bodyPr wrap="square" lIns="0" tIns="0" rIns="0" bIns="0" rtlCol="0" anchor="ctr"/>
          <a:lstStyle/>
          <a:p>
            <a:pPr marL="0" indent="0" algn="ctr">
              <a:buNone/>
            </a:pPr>
            <a:r>
              <a:rPr lang="en-US" b="1" dirty="0">
                <a:solidFill>
                  <a:srgbClr val="C5D4DB"/>
                </a:solidFill>
              </a:rPr>
              <a:t>P95 AT 50 VUS</a:t>
            </a:r>
            <a:endParaRPr lang="en-US"/>
          </a:p>
        </p:txBody>
      </p:sp>
      <p:sp>
        <p:nvSpPr>
          <p:cNvPr id="64" name="Text 60"/>
          <p:cNvSpPr/>
          <p:nvPr/>
        </p:nvSpPr>
        <p:spPr>
          <a:xfrm>
            <a:off x="16752980" y="18093394"/>
            <a:ext cx="3246120" cy="475488"/>
          </a:xfrm>
          <a:prstGeom prst="rect">
            <a:avLst/>
          </a:prstGeom>
          <a:noFill/>
          <a:ln/>
        </p:spPr>
        <p:txBody>
          <a:bodyPr wrap="square" lIns="0" tIns="0" rIns="0" bIns="0" rtlCol="0" anchor="ctr"/>
          <a:lstStyle/>
          <a:p>
            <a:pPr marL="0" indent="0" algn="ctr">
              <a:buNone/>
            </a:pPr>
            <a:r>
              <a:rPr lang="en-US" sz="2650" b="1" dirty="0">
                <a:solidFill>
                  <a:srgbClr val="2ED8D0"/>
                </a:solidFill>
              </a:rPr>
              <a:t>3 / 3</a:t>
            </a:r>
            <a:endParaRPr lang="en-US" sz="2650" dirty="0"/>
          </a:p>
        </p:txBody>
      </p:sp>
      <p:sp>
        <p:nvSpPr>
          <p:cNvPr id="65" name="Text 61"/>
          <p:cNvSpPr/>
          <p:nvPr/>
        </p:nvSpPr>
        <p:spPr>
          <a:xfrm>
            <a:off x="16752980" y="18669466"/>
            <a:ext cx="3246120" cy="228600"/>
          </a:xfrm>
          <a:prstGeom prst="rect">
            <a:avLst/>
          </a:prstGeom>
          <a:noFill/>
          <a:ln/>
        </p:spPr>
        <p:txBody>
          <a:bodyPr wrap="square" lIns="0" tIns="0" rIns="0" bIns="0" rtlCol="0" anchor="ctr"/>
          <a:lstStyle/>
          <a:p>
            <a:pPr marL="0" indent="0" algn="ctr">
              <a:buNone/>
            </a:pPr>
            <a:r>
              <a:rPr lang="en-US" b="1" dirty="0">
                <a:solidFill>
                  <a:srgbClr val="C5D4DB"/>
                </a:solidFill>
              </a:rPr>
              <a:t>UAT ACCEPTED</a:t>
            </a:r>
            <a:endParaRPr lang="en-US"/>
          </a:p>
        </p:txBody>
      </p:sp>
      <p:sp>
        <p:nvSpPr>
          <p:cNvPr id="66" name="Shape 62"/>
          <p:cNvSpPr/>
          <p:nvPr/>
        </p:nvSpPr>
        <p:spPr>
          <a:xfrm>
            <a:off x="658368" y="19751040"/>
            <a:ext cx="20080224" cy="8641080"/>
          </a:xfrm>
          <a:prstGeom prst="roundRect">
            <a:avLst/>
          </a:prstGeom>
          <a:solidFill>
            <a:srgbClr val="0D1E2B"/>
          </a:solidFill>
          <a:ln w="12700">
            <a:solidFill>
              <a:srgbClr val="315B6D"/>
            </a:solidFill>
            <a:prstDash val="solid"/>
          </a:ln>
          <a:effectLst>
            <a:outerShdw blurRad="17780" dist="6350" dir="2700000" algn="bl" rotWithShape="0">
              <a:srgbClr val="000000">
                <a:alpha val="15000"/>
              </a:srgbClr>
            </a:outerShdw>
          </a:effectLst>
        </p:spPr>
        <p:txBody>
          <a:bodyPr/>
          <a:lstStyle/>
          <a:p>
            <a:endParaRPr lang="en-US"/>
          </a:p>
        </p:txBody>
      </p:sp>
      <p:sp>
        <p:nvSpPr>
          <p:cNvPr id="67" name="Shape 63"/>
          <p:cNvSpPr/>
          <p:nvPr/>
        </p:nvSpPr>
        <p:spPr>
          <a:xfrm>
            <a:off x="704088" y="19842480"/>
            <a:ext cx="347472" cy="1"/>
          </a:xfrm>
          <a:prstGeom prst="line">
            <a:avLst/>
          </a:prstGeom>
          <a:noFill/>
          <a:ln w="30480">
            <a:solidFill>
              <a:srgbClr val="2ED8D0"/>
            </a:solidFill>
            <a:prstDash val="solid"/>
          </a:ln>
        </p:spPr>
        <p:txBody>
          <a:bodyPr/>
          <a:lstStyle/>
          <a:p>
            <a:endParaRPr lang="en-US"/>
          </a:p>
        </p:txBody>
      </p:sp>
      <p:sp>
        <p:nvSpPr>
          <p:cNvPr id="68" name="Shape 64"/>
          <p:cNvSpPr/>
          <p:nvPr/>
        </p:nvSpPr>
        <p:spPr>
          <a:xfrm flipV="1">
            <a:off x="20340828" y="19842481"/>
            <a:ext cx="352044" cy="34456"/>
          </a:xfrm>
          <a:prstGeom prst="line">
            <a:avLst/>
          </a:prstGeom>
          <a:noFill/>
          <a:ln w="30480">
            <a:solidFill>
              <a:srgbClr val="FF9638"/>
            </a:solidFill>
            <a:prstDash val="solid"/>
          </a:ln>
        </p:spPr>
        <p:txBody>
          <a:bodyPr/>
          <a:lstStyle/>
          <a:p>
            <a:endParaRPr lang="en-US"/>
          </a:p>
        </p:txBody>
      </p:sp>
      <p:sp>
        <p:nvSpPr>
          <p:cNvPr id="69" name="Shape 65"/>
          <p:cNvSpPr/>
          <p:nvPr/>
        </p:nvSpPr>
        <p:spPr>
          <a:xfrm>
            <a:off x="704088" y="28300680"/>
            <a:ext cx="347472" cy="1"/>
          </a:xfrm>
          <a:prstGeom prst="line">
            <a:avLst/>
          </a:prstGeom>
          <a:noFill/>
          <a:ln w="30480">
            <a:solidFill>
              <a:srgbClr val="2ED8D0"/>
            </a:solidFill>
            <a:prstDash val="solid"/>
          </a:ln>
        </p:spPr>
        <p:txBody>
          <a:bodyPr/>
          <a:lstStyle/>
          <a:p>
            <a:endParaRPr lang="en-US"/>
          </a:p>
        </p:txBody>
      </p:sp>
      <p:sp>
        <p:nvSpPr>
          <p:cNvPr id="70" name="Shape 66"/>
          <p:cNvSpPr/>
          <p:nvPr/>
        </p:nvSpPr>
        <p:spPr>
          <a:xfrm>
            <a:off x="20345400" y="28300680"/>
            <a:ext cx="347472" cy="1"/>
          </a:xfrm>
          <a:prstGeom prst="line">
            <a:avLst/>
          </a:prstGeom>
          <a:noFill/>
          <a:ln w="30480">
            <a:solidFill>
              <a:srgbClr val="FF9638"/>
            </a:solidFill>
            <a:prstDash val="solid"/>
          </a:ln>
        </p:spPr>
        <p:txBody>
          <a:bodyPr/>
          <a:lstStyle/>
          <a:p>
            <a:endParaRPr lang="en-US"/>
          </a:p>
        </p:txBody>
      </p:sp>
      <p:sp>
        <p:nvSpPr>
          <p:cNvPr id="72" name="Shape 68"/>
          <p:cNvSpPr/>
          <p:nvPr/>
        </p:nvSpPr>
        <p:spPr>
          <a:xfrm>
            <a:off x="1097280" y="20619720"/>
            <a:ext cx="6172200" cy="4572000"/>
          </a:xfrm>
          <a:prstGeom prst="roundRect">
            <a:avLst/>
          </a:prstGeom>
          <a:solidFill>
            <a:srgbClr val="09151F"/>
          </a:solidFill>
          <a:ln w="12700">
            <a:solidFill>
              <a:srgbClr val="315B6D"/>
            </a:solidFill>
            <a:prstDash val="solid"/>
          </a:ln>
        </p:spPr>
        <p:txBody>
          <a:bodyPr/>
          <a:lstStyle/>
          <a:p>
            <a:endParaRPr lang="en-US"/>
          </a:p>
        </p:txBody>
      </p:sp>
      <p:pic>
        <p:nvPicPr>
          <p:cNvPr id="73" name="Image 2" descr="/mnt/data/4fa381316c.png"/>
          <p:cNvPicPr>
            <a:picLocks noChangeAspect="1"/>
          </p:cNvPicPr>
          <p:nvPr/>
        </p:nvPicPr>
        <p:blipFill>
          <a:blip r:embed="rId5"/>
          <a:stretch>
            <a:fillRect/>
          </a:stretch>
        </p:blipFill>
        <p:spPr>
          <a:xfrm>
            <a:off x="1216152" y="20918424"/>
            <a:ext cx="5934456" cy="3956304"/>
          </a:xfrm>
          <a:prstGeom prst="rect">
            <a:avLst/>
          </a:prstGeom>
        </p:spPr>
      </p:pic>
      <p:sp>
        <p:nvSpPr>
          <p:cNvPr id="74" name="Text 69"/>
          <p:cNvSpPr/>
          <p:nvPr/>
        </p:nvSpPr>
        <p:spPr>
          <a:xfrm>
            <a:off x="1097280" y="25466040"/>
            <a:ext cx="6172200" cy="384048"/>
          </a:xfrm>
          <a:prstGeom prst="rect">
            <a:avLst/>
          </a:prstGeom>
          <a:noFill/>
          <a:ln/>
        </p:spPr>
        <p:txBody>
          <a:bodyPr wrap="square" lIns="0" tIns="0" rIns="0" bIns="0" rtlCol="0" anchor="ctr">
            <a:normAutofit/>
          </a:bodyPr>
          <a:lstStyle/>
          <a:p>
            <a:pPr marL="0" indent="0" algn="ctr">
              <a:buNone/>
            </a:pPr>
            <a:r>
              <a:rPr lang="en-US" sz="2400" b="1" dirty="0">
                <a:solidFill>
                  <a:srgbClr val="F8FCFE"/>
                </a:solidFill>
              </a:rPr>
              <a:t>Unified Vulnerability Dashboard</a:t>
            </a:r>
            <a:endParaRPr lang="en-US" sz="2400"/>
          </a:p>
        </p:txBody>
      </p:sp>
      <p:sp>
        <p:nvSpPr>
          <p:cNvPr id="75" name="Text 70"/>
          <p:cNvSpPr/>
          <p:nvPr/>
        </p:nvSpPr>
        <p:spPr>
          <a:xfrm>
            <a:off x="1261872" y="25950672"/>
            <a:ext cx="5843016" cy="731520"/>
          </a:xfrm>
          <a:prstGeom prst="rect">
            <a:avLst/>
          </a:prstGeom>
          <a:noFill/>
          <a:ln/>
        </p:spPr>
        <p:txBody>
          <a:bodyPr wrap="square" lIns="0" tIns="0" rIns="0" bIns="0" rtlCol="0" anchor="ctr">
            <a:normAutofit/>
          </a:bodyPr>
          <a:lstStyle/>
          <a:p>
            <a:pPr marL="0" indent="0" algn="ctr">
              <a:buNone/>
            </a:pPr>
            <a:r>
              <a:rPr lang="en-US" dirty="0">
                <a:solidFill>
                  <a:srgbClr val="C5D4DB"/>
                </a:solidFill>
              </a:rPr>
              <a:t>Centralized scan summaries, severity distribution, trends and visibility across authorized projects.</a:t>
            </a:r>
            <a:endParaRPr lang="en-US"/>
          </a:p>
        </p:txBody>
      </p:sp>
      <p:sp>
        <p:nvSpPr>
          <p:cNvPr id="76" name="Shape 71"/>
          <p:cNvSpPr/>
          <p:nvPr/>
        </p:nvSpPr>
        <p:spPr>
          <a:xfrm>
            <a:off x="7662672" y="20619720"/>
            <a:ext cx="6172200" cy="4572000"/>
          </a:xfrm>
          <a:prstGeom prst="roundRect">
            <a:avLst/>
          </a:prstGeom>
          <a:solidFill>
            <a:srgbClr val="09151F"/>
          </a:solidFill>
          <a:ln w="12700">
            <a:solidFill>
              <a:srgbClr val="315B6D"/>
            </a:solidFill>
            <a:prstDash val="solid"/>
          </a:ln>
        </p:spPr>
        <p:txBody>
          <a:bodyPr/>
          <a:lstStyle/>
          <a:p>
            <a:endParaRPr lang="en-US"/>
          </a:p>
        </p:txBody>
      </p:sp>
      <p:pic>
        <p:nvPicPr>
          <p:cNvPr id="77" name="Image 3" descr="/mnt/data/df9f7ed524.png"/>
          <p:cNvPicPr>
            <a:picLocks noChangeAspect="1"/>
          </p:cNvPicPr>
          <p:nvPr/>
        </p:nvPicPr>
        <p:blipFill>
          <a:blip r:embed="rId6"/>
          <a:stretch>
            <a:fillRect/>
          </a:stretch>
        </p:blipFill>
        <p:spPr>
          <a:xfrm>
            <a:off x="7781544" y="20918424"/>
            <a:ext cx="5934456" cy="3956304"/>
          </a:xfrm>
          <a:prstGeom prst="rect">
            <a:avLst/>
          </a:prstGeom>
        </p:spPr>
      </p:pic>
      <p:sp>
        <p:nvSpPr>
          <p:cNvPr id="78" name="Text 72"/>
          <p:cNvSpPr/>
          <p:nvPr/>
        </p:nvSpPr>
        <p:spPr>
          <a:xfrm>
            <a:off x="7662672" y="25466040"/>
            <a:ext cx="6172200" cy="384048"/>
          </a:xfrm>
          <a:prstGeom prst="rect">
            <a:avLst/>
          </a:prstGeom>
          <a:noFill/>
          <a:ln/>
        </p:spPr>
        <p:txBody>
          <a:bodyPr wrap="square" lIns="0" tIns="0" rIns="0" bIns="0" rtlCol="0" anchor="ctr">
            <a:normAutofit/>
          </a:bodyPr>
          <a:lstStyle/>
          <a:p>
            <a:pPr marL="0" indent="0" algn="ctr">
              <a:buNone/>
            </a:pPr>
            <a:r>
              <a:rPr lang="en-US" sz="2000" b="1" dirty="0">
                <a:solidFill>
                  <a:srgbClr val="F8FCFE"/>
                </a:solidFill>
              </a:rPr>
              <a:t>Automated Scan Scheduling</a:t>
            </a:r>
            <a:endParaRPr lang="en-US" sz="2000"/>
          </a:p>
        </p:txBody>
      </p:sp>
      <p:sp>
        <p:nvSpPr>
          <p:cNvPr id="79" name="Text 73"/>
          <p:cNvSpPr/>
          <p:nvPr/>
        </p:nvSpPr>
        <p:spPr>
          <a:xfrm>
            <a:off x="7827264" y="25950672"/>
            <a:ext cx="5843016" cy="731520"/>
          </a:xfrm>
          <a:prstGeom prst="rect">
            <a:avLst/>
          </a:prstGeom>
          <a:noFill/>
          <a:ln/>
        </p:spPr>
        <p:txBody>
          <a:bodyPr wrap="square" lIns="0" tIns="0" rIns="0" bIns="0" rtlCol="0" anchor="ctr">
            <a:normAutofit/>
          </a:bodyPr>
          <a:lstStyle/>
          <a:p>
            <a:pPr marL="0" indent="0" algn="ctr">
              <a:buNone/>
            </a:pPr>
            <a:r>
              <a:rPr lang="en-US" dirty="0">
                <a:solidFill>
                  <a:srgbClr val="C5D4DB"/>
                </a:solidFill>
              </a:rPr>
              <a:t>Configure authorized targets, projects, execution time, recurrence and scanner settings.</a:t>
            </a:r>
            <a:endParaRPr lang="en-US"/>
          </a:p>
        </p:txBody>
      </p:sp>
      <p:sp>
        <p:nvSpPr>
          <p:cNvPr id="80" name="Shape 74"/>
          <p:cNvSpPr/>
          <p:nvPr/>
        </p:nvSpPr>
        <p:spPr>
          <a:xfrm>
            <a:off x="14228064" y="20619720"/>
            <a:ext cx="6172200" cy="4572000"/>
          </a:xfrm>
          <a:prstGeom prst="roundRect">
            <a:avLst/>
          </a:prstGeom>
          <a:solidFill>
            <a:srgbClr val="09151F"/>
          </a:solidFill>
          <a:ln w="12700">
            <a:solidFill>
              <a:srgbClr val="315B6D"/>
            </a:solidFill>
            <a:prstDash val="solid"/>
          </a:ln>
        </p:spPr>
        <p:txBody>
          <a:bodyPr/>
          <a:lstStyle/>
          <a:p>
            <a:endParaRPr lang="en-US"/>
          </a:p>
        </p:txBody>
      </p:sp>
      <p:pic>
        <p:nvPicPr>
          <p:cNvPr id="81" name="Image 4" descr="/mnt/data/eff4f602bc.png"/>
          <p:cNvPicPr>
            <a:picLocks noChangeAspect="1"/>
          </p:cNvPicPr>
          <p:nvPr/>
        </p:nvPicPr>
        <p:blipFill>
          <a:blip r:embed="rId7"/>
          <a:stretch>
            <a:fillRect/>
          </a:stretch>
        </p:blipFill>
        <p:spPr>
          <a:xfrm>
            <a:off x="14346936" y="20918424"/>
            <a:ext cx="5934456" cy="3956304"/>
          </a:xfrm>
          <a:prstGeom prst="rect">
            <a:avLst/>
          </a:prstGeom>
        </p:spPr>
      </p:pic>
      <p:sp>
        <p:nvSpPr>
          <p:cNvPr id="82" name="Text 75"/>
          <p:cNvSpPr/>
          <p:nvPr/>
        </p:nvSpPr>
        <p:spPr>
          <a:xfrm>
            <a:off x="14228064" y="25466040"/>
            <a:ext cx="6172200" cy="384048"/>
          </a:xfrm>
          <a:prstGeom prst="rect">
            <a:avLst/>
          </a:prstGeom>
          <a:noFill/>
          <a:ln/>
        </p:spPr>
        <p:txBody>
          <a:bodyPr wrap="square" lIns="0" tIns="0" rIns="0" bIns="0" rtlCol="0" anchor="ctr">
            <a:normAutofit/>
          </a:bodyPr>
          <a:lstStyle/>
          <a:p>
            <a:pPr marL="0" indent="0" algn="ctr">
              <a:buNone/>
            </a:pPr>
            <a:r>
              <a:rPr lang="en-US" sz="2000" b="1" dirty="0">
                <a:solidFill>
                  <a:srgbClr val="F8FCFE"/>
                </a:solidFill>
              </a:rPr>
              <a:t>Configurable Report Generation</a:t>
            </a:r>
            <a:endParaRPr lang="en-US" sz="2000"/>
          </a:p>
        </p:txBody>
      </p:sp>
      <p:sp>
        <p:nvSpPr>
          <p:cNvPr id="83" name="Text 76"/>
          <p:cNvSpPr/>
          <p:nvPr/>
        </p:nvSpPr>
        <p:spPr>
          <a:xfrm>
            <a:off x="14392656" y="25950672"/>
            <a:ext cx="5843016" cy="731520"/>
          </a:xfrm>
          <a:prstGeom prst="rect">
            <a:avLst/>
          </a:prstGeom>
          <a:noFill/>
          <a:ln/>
        </p:spPr>
        <p:txBody>
          <a:bodyPr wrap="square" lIns="0" tIns="0" rIns="0" bIns="0" rtlCol="0" anchor="ctr">
            <a:normAutofit/>
          </a:bodyPr>
          <a:lstStyle/>
          <a:p>
            <a:pPr marL="0" indent="0" algn="ctr">
              <a:buNone/>
            </a:pPr>
            <a:r>
              <a:rPr lang="en-US" dirty="0">
                <a:solidFill>
                  <a:srgbClr val="C5D4DB"/>
                </a:solidFill>
              </a:rPr>
              <a:t>Select report scope, fields and output options before previewing structured vulnerability reports.</a:t>
            </a:r>
            <a:endParaRPr lang="en-US"/>
          </a:p>
        </p:txBody>
      </p:sp>
      <p:sp>
        <p:nvSpPr>
          <p:cNvPr id="84" name="Text 77"/>
          <p:cNvSpPr/>
          <p:nvPr/>
        </p:nvSpPr>
        <p:spPr>
          <a:xfrm>
            <a:off x="960120" y="27541728"/>
            <a:ext cx="19476720" cy="310896"/>
          </a:xfrm>
          <a:prstGeom prst="rect">
            <a:avLst/>
          </a:prstGeom>
          <a:noFill/>
          <a:ln/>
        </p:spPr>
        <p:txBody>
          <a:bodyPr wrap="square" lIns="0" tIns="0" rIns="0" bIns="0" rtlCol="0" anchor="ctr"/>
          <a:lstStyle/>
          <a:p>
            <a:pPr marL="0" indent="0" algn="ctr">
              <a:buNone/>
            </a:pPr>
            <a:r>
              <a:rPr lang="en-US" sz="2000" b="1" dirty="0">
                <a:solidFill>
                  <a:srgbClr val="2ED8D0"/>
                </a:solidFill>
              </a:rPr>
              <a:t>SDG 9 CONTRIBUTION: Secure, centralized and extensible vulnerability management supports more resilient digital infrastructure.</a:t>
            </a:r>
            <a:endParaRPr lang="en-US" sz="2000"/>
          </a:p>
        </p:txBody>
      </p:sp>
      <p:sp>
        <p:nvSpPr>
          <p:cNvPr id="85" name="Shape 78"/>
          <p:cNvSpPr/>
          <p:nvPr/>
        </p:nvSpPr>
        <p:spPr>
          <a:xfrm>
            <a:off x="658368" y="28986480"/>
            <a:ext cx="20080224" cy="1"/>
          </a:xfrm>
          <a:prstGeom prst="line">
            <a:avLst/>
          </a:prstGeom>
          <a:noFill/>
          <a:ln w="12700">
            <a:solidFill>
              <a:srgbClr val="315B6D"/>
            </a:solidFill>
            <a:prstDash val="solid"/>
          </a:ln>
        </p:spPr>
        <p:txBody>
          <a:bodyPr/>
          <a:lstStyle/>
          <a:p>
            <a:endParaRPr lang="en-US"/>
          </a:p>
        </p:txBody>
      </p:sp>
      <p:sp>
        <p:nvSpPr>
          <p:cNvPr id="86" name="Text 79"/>
          <p:cNvSpPr/>
          <p:nvPr/>
        </p:nvSpPr>
        <p:spPr>
          <a:xfrm>
            <a:off x="777240" y="29343632"/>
            <a:ext cx="9144000" cy="228600"/>
          </a:xfrm>
          <a:prstGeom prst="rect">
            <a:avLst/>
          </a:prstGeom>
          <a:noFill/>
          <a:ln/>
        </p:spPr>
        <p:txBody>
          <a:bodyPr wrap="square" lIns="0" tIns="0" rIns="0" bIns="0" rtlCol="0" anchor="ctr"/>
          <a:lstStyle/>
          <a:p>
            <a:pPr marL="0" indent="0">
              <a:buNone/>
            </a:pPr>
            <a:r>
              <a:rPr lang="en-US" b="1" dirty="0">
                <a:solidFill>
                  <a:srgbClr val="C5D4DB"/>
                </a:solidFill>
              </a:rPr>
              <a:t>ARCHERYSEC SAAS  |  FINAL YEAR PROJECT 2026</a:t>
            </a:r>
            <a:endParaRPr lang="en-US"/>
          </a:p>
        </p:txBody>
      </p:sp>
      <p:sp>
        <p:nvSpPr>
          <p:cNvPr id="87" name="Text 80"/>
          <p:cNvSpPr/>
          <p:nvPr/>
        </p:nvSpPr>
        <p:spPr>
          <a:xfrm>
            <a:off x="10972800" y="29343632"/>
            <a:ext cx="9646920" cy="228600"/>
          </a:xfrm>
          <a:prstGeom prst="rect">
            <a:avLst/>
          </a:prstGeom>
          <a:noFill/>
          <a:ln/>
        </p:spPr>
        <p:txBody>
          <a:bodyPr wrap="square" lIns="0" tIns="0" rIns="0" bIns="0" rtlCol="0" anchor="ctr"/>
          <a:lstStyle/>
          <a:p>
            <a:pPr marL="0" indent="0" algn="r">
              <a:buNone/>
            </a:pPr>
            <a:r>
              <a:rPr lang="en-US" sz="2000" b="1" dirty="0">
                <a:solidFill>
                  <a:srgbClr val="C5D4DB"/>
                </a:solidFill>
              </a:rPr>
              <a:t>IMMANUEL MILAD MOAWAD INDRAWES  •  TP077928</a:t>
            </a:r>
            <a:endParaRPr lang="en-US" sz="2000"/>
          </a:p>
        </p:txBody>
      </p:sp>
      <p:pic>
        <p:nvPicPr>
          <p:cNvPr id="90" name="Picture 89">
            <a:extLst>
              <a:ext uri="{FF2B5EF4-FFF2-40B4-BE49-F238E27FC236}">
                <a16:creationId xmlns:a16="http://schemas.microsoft.com/office/drawing/2014/main" id="{BC587A3A-2C2D-544E-1CDB-2CF55C6E74CC}"/>
              </a:ext>
            </a:extLst>
          </p:cNvPr>
          <p:cNvPicPr>
            <a:picLocks noChangeAspect="1"/>
          </p:cNvPicPr>
          <p:nvPr/>
        </p:nvPicPr>
        <p:blipFill>
          <a:blip r:embed="rId8"/>
          <a:stretch>
            <a:fillRect/>
          </a:stretch>
        </p:blipFill>
        <p:spPr>
          <a:xfrm>
            <a:off x="11433806" y="11583087"/>
            <a:ext cx="8385814" cy="5037474"/>
          </a:xfrm>
          <a:prstGeom prst="rect">
            <a:avLst/>
          </a:prstGeom>
        </p:spPr>
      </p:pic>
      <p:pic>
        <p:nvPicPr>
          <p:cNvPr id="91" name="Picture 90">
            <a:extLst>
              <a:ext uri="{FF2B5EF4-FFF2-40B4-BE49-F238E27FC236}">
                <a16:creationId xmlns:a16="http://schemas.microsoft.com/office/drawing/2014/main" id="{B1E117CD-76FD-6246-D47B-EB75F1737589}"/>
              </a:ext>
            </a:extLst>
          </p:cNvPr>
          <p:cNvPicPr>
            <a:picLocks noChangeAspect="1"/>
          </p:cNvPicPr>
          <p:nvPr/>
        </p:nvPicPr>
        <p:blipFill>
          <a:blip r:embed="rId9"/>
          <a:stretch>
            <a:fillRect/>
          </a:stretch>
        </p:blipFill>
        <p:spPr>
          <a:xfrm>
            <a:off x="16037195" y="488623"/>
            <a:ext cx="1311980" cy="1362636"/>
          </a:xfrm>
          <a:prstGeom prst="rect">
            <a:avLst/>
          </a:prstGeom>
        </p:spPr>
      </p:pic>
      <p:pic>
        <p:nvPicPr>
          <p:cNvPr id="92" name="Picture 91">
            <a:extLst>
              <a:ext uri="{FF2B5EF4-FFF2-40B4-BE49-F238E27FC236}">
                <a16:creationId xmlns:a16="http://schemas.microsoft.com/office/drawing/2014/main" id="{D042B574-8F70-ABDF-E4DF-643FA36F8104}"/>
              </a:ext>
            </a:extLst>
          </p:cNvPr>
          <p:cNvPicPr>
            <a:picLocks noChangeAspect="1"/>
          </p:cNvPicPr>
          <p:nvPr/>
        </p:nvPicPr>
        <p:blipFill>
          <a:blip r:embed="rId10"/>
          <a:stretch>
            <a:fillRect/>
          </a:stretch>
        </p:blipFill>
        <p:spPr>
          <a:xfrm>
            <a:off x="674268" y="479933"/>
            <a:ext cx="1849753" cy="1847850"/>
          </a:xfrm>
          <a:prstGeom prst="rect">
            <a:avLst/>
          </a:prstGeom>
        </p:spPr>
      </p:pic>
      <p:sp>
        <p:nvSpPr>
          <p:cNvPr id="6" name="Shape 3"/>
          <p:cNvSpPr/>
          <p:nvPr/>
        </p:nvSpPr>
        <p:spPr>
          <a:xfrm>
            <a:off x="877824" y="4812793"/>
            <a:ext cx="6828358" cy="463633"/>
          </a:xfrm>
          <a:prstGeom prst="roundRect">
            <a:avLst/>
          </a:prstGeom>
          <a:solidFill>
            <a:srgbClr val="F36D25"/>
          </a:solidFill>
          <a:ln w="12700">
            <a:solidFill>
              <a:srgbClr val="F36D25"/>
            </a:solidFill>
            <a:prstDash val="solid"/>
          </a:ln>
        </p:spPr>
        <p:txBody>
          <a:bodyPr/>
          <a:lstStyle/>
          <a:p>
            <a:endParaRPr lang="en-US"/>
          </a:p>
        </p:txBody>
      </p:sp>
      <p:sp>
        <p:nvSpPr>
          <p:cNvPr id="19" name="Text 16"/>
          <p:cNvSpPr/>
          <p:nvPr/>
        </p:nvSpPr>
        <p:spPr>
          <a:xfrm>
            <a:off x="1146512" y="4846320"/>
            <a:ext cx="5010448" cy="384048"/>
          </a:xfrm>
          <a:prstGeom prst="rect">
            <a:avLst/>
          </a:prstGeom>
          <a:noFill/>
          <a:ln/>
        </p:spPr>
        <p:txBody>
          <a:bodyPr wrap="square" lIns="0" tIns="0" rIns="0" bIns="0" rtlCol="0" anchor="ctr"/>
          <a:lstStyle/>
          <a:p>
            <a:pPr marL="0" indent="0">
              <a:buNone/>
            </a:pPr>
            <a:r>
              <a:rPr lang="en-US" sz="2400" b="1" dirty="0">
                <a:solidFill>
                  <a:srgbClr val="F8FCFE"/>
                </a:solidFill>
              </a:rPr>
              <a:t>PROBLEM STATEMENT</a:t>
            </a:r>
            <a:endParaRPr lang="en-US" sz="2400" dirty="0"/>
          </a:p>
        </p:txBody>
      </p:sp>
      <p:sp>
        <p:nvSpPr>
          <p:cNvPr id="3" name="Shape 3">
            <a:extLst>
              <a:ext uri="{FF2B5EF4-FFF2-40B4-BE49-F238E27FC236}">
                <a16:creationId xmlns:a16="http://schemas.microsoft.com/office/drawing/2014/main" id="{A3264E81-FFFC-E579-1ED3-19FAA38E137F}"/>
              </a:ext>
            </a:extLst>
          </p:cNvPr>
          <p:cNvSpPr/>
          <p:nvPr/>
        </p:nvSpPr>
        <p:spPr>
          <a:xfrm>
            <a:off x="11073384" y="4711851"/>
            <a:ext cx="6828358" cy="463633"/>
          </a:xfrm>
          <a:prstGeom prst="roundRect">
            <a:avLst/>
          </a:prstGeom>
          <a:solidFill>
            <a:srgbClr val="F36D25"/>
          </a:solidFill>
          <a:ln w="12700">
            <a:solidFill>
              <a:srgbClr val="F36D25"/>
            </a:solidFill>
            <a:prstDash val="solid"/>
          </a:ln>
        </p:spPr>
        <p:txBody>
          <a:bodyPr/>
          <a:lstStyle/>
          <a:p>
            <a:endParaRPr lang="en-US"/>
          </a:p>
        </p:txBody>
      </p:sp>
      <p:sp>
        <p:nvSpPr>
          <p:cNvPr id="26" name="Text 23"/>
          <p:cNvSpPr/>
          <p:nvPr/>
        </p:nvSpPr>
        <p:spPr>
          <a:xfrm>
            <a:off x="11250632" y="4742331"/>
            <a:ext cx="5757208" cy="384048"/>
          </a:xfrm>
          <a:prstGeom prst="rect">
            <a:avLst/>
          </a:prstGeom>
          <a:noFill/>
          <a:ln/>
        </p:spPr>
        <p:txBody>
          <a:bodyPr wrap="square" lIns="0" tIns="0" rIns="0" bIns="0" rtlCol="0" anchor="ctr"/>
          <a:lstStyle/>
          <a:p>
            <a:pPr marL="0" indent="0">
              <a:buNone/>
            </a:pPr>
            <a:r>
              <a:rPr lang="en-US" sz="2400" b="1" dirty="0">
                <a:solidFill>
                  <a:srgbClr val="F8FCFE"/>
                </a:solidFill>
              </a:rPr>
              <a:t>PROJECT AIM</a:t>
            </a:r>
            <a:endParaRPr lang="en-US" sz="2400" dirty="0"/>
          </a:p>
        </p:txBody>
      </p:sp>
      <p:sp>
        <p:nvSpPr>
          <p:cNvPr id="4" name="Shape 3">
            <a:extLst>
              <a:ext uri="{FF2B5EF4-FFF2-40B4-BE49-F238E27FC236}">
                <a16:creationId xmlns:a16="http://schemas.microsoft.com/office/drawing/2014/main" id="{AB1E84E8-1493-2B97-3E7F-AEF65CA8BCF6}"/>
              </a:ext>
            </a:extLst>
          </p:cNvPr>
          <p:cNvSpPr/>
          <p:nvPr/>
        </p:nvSpPr>
        <p:spPr>
          <a:xfrm>
            <a:off x="1031329" y="9719421"/>
            <a:ext cx="6828358" cy="463633"/>
          </a:xfrm>
          <a:prstGeom prst="roundRect">
            <a:avLst/>
          </a:prstGeom>
          <a:solidFill>
            <a:srgbClr val="F36D25"/>
          </a:solidFill>
          <a:ln w="12700">
            <a:solidFill>
              <a:srgbClr val="F36D25"/>
            </a:solidFill>
            <a:prstDash val="solid"/>
          </a:ln>
        </p:spPr>
        <p:txBody>
          <a:bodyPr/>
          <a:lstStyle/>
          <a:p>
            <a:endParaRPr lang="en-US"/>
          </a:p>
        </p:txBody>
      </p:sp>
      <p:sp>
        <p:nvSpPr>
          <p:cNvPr id="40" name="Text 37"/>
          <p:cNvSpPr/>
          <p:nvPr/>
        </p:nvSpPr>
        <p:spPr>
          <a:xfrm>
            <a:off x="1193524" y="9750909"/>
            <a:ext cx="5778776" cy="384048"/>
          </a:xfrm>
          <a:prstGeom prst="rect">
            <a:avLst/>
          </a:prstGeom>
          <a:noFill/>
          <a:ln/>
        </p:spPr>
        <p:txBody>
          <a:bodyPr wrap="square" lIns="0" tIns="0" rIns="0" bIns="0" rtlCol="0" anchor="ctr"/>
          <a:lstStyle/>
          <a:p>
            <a:pPr marL="0" indent="0">
              <a:buNone/>
            </a:pPr>
            <a:r>
              <a:rPr lang="en-US" sz="2800" b="1" dirty="0">
                <a:solidFill>
                  <a:srgbClr val="F8FCFE"/>
                </a:solidFill>
              </a:rPr>
              <a:t>OBJECTIVES</a:t>
            </a:r>
            <a:endParaRPr lang="en-US" sz="2800" dirty="0"/>
          </a:p>
        </p:txBody>
      </p:sp>
      <p:sp>
        <p:nvSpPr>
          <p:cNvPr id="7" name="Shape 3">
            <a:extLst>
              <a:ext uri="{FF2B5EF4-FFF2-40B4-BE49-F238E27FC236}">
                <a16:creationId xmlns:a16="http://schemas.microsoft.com/office/drawing/2014/main" id="{DBB16DCB-1D46-ECD0-8F38-A70C75ED7B48}"/>
              </a:ext>
            </a:extLst>
          </p:cNvPr>
          <p:cNvSpPr/>
          <p:nvPr/>
        </p:nvSpPr>
        <p:spPr>
          <a:xfrm>
            <a:off x="11146536" y="7513499"/>
            <a:ext cx="6828358" cy="463633"/>
          </a:xfrm>
          <a:prstGeom prst="roundRect">
            <a:avLst/>
          </a:prstGeom>
          <a:solidFill>
            <a:srgbClr val="F36D25"/>
          </a:solidFill>
          <a:ln w="12700">
            <a:solidFill>
              <a:srgbClr val="F36D25"/>
            </a:solidFill>
            <a:prstDash val="solid"/>
          </a:ln>
        </p:spPr>
        <p:txBody>
          <a:bodyPr/>
          <a:lstStyle/>
          <a:p>
            <a:endParaRPr lang="en-US"/>
          </a:p>
        </p:txBody>
      </p:sp>
      <p:sp>
        <p:nvSpPr>
          <p:cNvPr id="33" name="Text 30"/>
          <p:cNvSpPr/>
          <p:nvPr/>
        </p:nvSpPr>
        <p:spPr>
          <a:xfrm>
            <a:off x="11354729" y="7531251"/>
            <a:ext cx="6087451" cy="384048"/>
          </a:xfrm>
          <a:prstGeom prst="rect">
            <a:avLst/>
          </a:prstGeom>
          <a:noFill/>
          <a:ln/>
        </p:spPr>
        <p:txBody>
          <a:bodyPr wrap="square" lIns="0" tIns="0" rIns="0" bIns="0" rtlCol="0" anchor="ctr"/>
          <a:lstStyle/>
          <a:p>
            <a:pPr marL="0" indent="0">
              <a:buNone/>
            </a:pPr>
            <a:r>
              <a:rPr lang="en-US" sz="2400" b="1" dirty="0">
                <a:solidFill>
                  <a:srgbClr val="F8FCFE"/>
                </a:solidFill>
              </a:rPr>
              <a:t>CONCLUSION</a:t>
            </a:r>
            <a:endParaRPr lang="en-US" sz="2400" dirty="0"/>
          </a:p>
        </p:txBody>
      </p:sp>
      <p:sp>
        <p:nvSpPr>
          <p:cNvPr id="15" name="Shape 3">
            <a:extLst>
              <a:ext uri="{FF2B5EF4-FFF2-40B4-BE49-F238E27FC236}">
                <a16:creationId xmlns:a16="http://schemas.microsoft.com/office/drawing/2014/main" id="{A6FD3F78-CDCF-E138-80DD-58DF73D14EB1}"/>
              </a:ext>
            </a:extLst>
          </p:cNvPr>
          <p:cNvSpPr/>
          <p:nvPr/>
        </p:nvSpPr>
        <p:spPr>
          <a:xfrm>
            <a:off x="11201400" y="11002017"/>
            <a:ext cx="6828358" cy="463633"/>
          </a:xfrm>
          <a:prstGeom prst="roundRect">
            <a:avLst/>
          </a:prstGeom>
          <a:solidFill>
            <a:srgbClr val="F36D25"/>
          </a:solidFill>
          <a:ln w="12700">
            <a:solidFill>
              <a:srgbClr val="F36D25"/>
            </a:solidFill>
            <a:prstDash val="solid"/>
          </a:ln>
        </p:spPr>
        <p:txBody>
          <a:bodyPr/>
          <a:lstStyle/>
          <a:p>
            <a:endParaRPr lang="en-US"/>
          </a:p>
        </p:txBody>
      </p:sp>
      <p:sp>
        <p:nvSpPr>
          <p:cNvPr id="47" name="Text 44"/>
          <p:cNvSpPr/>
          <p:nvPr/>
        </p:nvSpPr>
        <p:spPr>
          <a:xfrm>
            <a:off x="11354729" y="11012245"/>
            <a:ext cx="5813131" cy="384048"/>
          </a:xfrm>
          <a:prstGeom prst="rect">
            <a:avLst/>
          </a:prstGeom>
          <a:noFill/>
          <a:ln/>
        </p:spPr>
        <p:txBody>
          <a:bodyPr wrap="square" lIns="0" tIns="0" rIns="0" bIns="0" rtlCol="0" anchor="ctr"/>
          <a:lstStyle/>
          <a:p>
            <a:pPr marL="0" indent="0">
              <a:buNone/>
            </a:pPr>
            <a:r>
              <a:rPr lang="en-US" sz="2400" b="1" dirty="0">
                <a:solidFill>
                  <a:srgbClr val="F8FCFE"/>
                </a:solidFill>
              </a:rPr>
              <a:t>SYSTEM ARCHITECTURE</a:t>
            </a:r>
            <a:endParaRPr lang="en-US" sz="2400" dirty="0"/>
          </a:p>
        </p:txBody>
      </p:sp>
      <p:sp>
        <p:nvSpPr>
          <p:cNvPr id="17" name="Shape 3">
            <a:extLst>
              <a:ext uri="{FF2B5EF4-FFF2-40B4-BE49-F238E27FC236}">
                <a16:creationId xmlns:a16="http://schemas.microsoft.com/office/drawing/2014/main" id="{D07B3D13-548C-4C85-0671-BCF072F36D6B}"/>
              </a:ext>
            </a:extLst>
          </p:cNvPr>
          <p:cNvSpPr/>
          <p:nvPr/>
        </p:nvSpPr>
        <p:spPr>
          <a:xfrm>
            <a:off x="953186" y="17134685"/>
            <a:ext cx="6828358" cy="463633"/>
          </a:xfrm>
          <a:prstGeom prst="roundRect">
            <a:avLst/>
          </a:prstGeom>
          <a:solidFill>
            <a:srgbClr val="F36D25"/>
          </a:solidFill>
          <a:ln w="12700">
            <a:solidFill>
              <a:srgbClr val="F36D25"/>
            </a:solidFill>
            <a:prstDash val="solid"/>
          </a:ln>
        </p:spPr>
        <p:txBody>
          <a:bodyPr/>
          <a:lstStyle/>
          <a:p>
            <a:endParaRPr lang="en-US"/>
          </a:p>
        </p:txBody>
      </p:sp>
      <p:sp>
        <p:nvSpPr>
          <p:cNvPr id="55" name="Text 51"/>
          <p:cNvSpPr/>
          <p:nvPr/>
        </p:nvSpPr>
        <p:spPr>
          <a:xfrm>
            <a:off x="1042416" y="17196995"/>
            <a:ext cx="8695944" cy="384048"/>
          </a:xfrm>
          <a:prstGeom prst="rect">
            <a:avLst/>
          </a:prstGeom>
          <a:noFill/>
          <a:ln/>
        </p:spPr>
        <p:txBody>
          <a:bodyPr wrap="square" lIns="0" tIns="0" rIns="0" bIns="0" rtlCol="0" anchor="ctr"/>
          <a:lstStyle/>
          <a:p>
            <a:pPr marL="0" indent="0">
              <a:buNone/>
            </a:pPr>
            <a:r>
              <a:rPr lang="en-US" sz="2400" b="1" dirty="0">
                <a:solidFill>
                  <a:srgbClr val="F8FCFE"/>
                </a:solidFill>
              </a:rPr>
              <a:t>VERIFIED EVALUATION RESULTS</a:t>
            </a:r>
            <a:endParaRPr lang="en-US" sz="2400" dirty="0"/>
          </a:p>
        </p:txBody>
      </p:sp>
      <p:sp>
        <p:nvSpPr>
          <p:cNvPr id="22" name="Shape 3">
            <a:extLst>
              <a:ext uri="{FF2B5EF4-FFF2-40B4-BE49-F238E27FC236}">
                <a16:creationId xmlns:a16="http://schemas.microsoft.com/office/drawing/2014/main" id="{F743F9AA-ABEF-4BF1-375B-675A1F94F4DA}"/>
              </a:ext>
            </a:extLst>
          </p:cNvPr>
          <p:cNvSpPr/>
          <p:nvPr/>
        </p:nvSpPr>
        <p:spPr>
          <a:xfrm>
            <a:off x="1404290" y="19995218"/>
            <a:ext cx="6828358" cy="463633"/>
          </a:xfrm>
          <a:prstGeom prst="roundRect">
            <a:avLst/>
          </a:prstGeom>
          <a:solidFill>
            <a:srgbClr val="F36D25"/>
          </a:solidFill>
          <a:ln w="12700">
            <a:solidFill>
              <a:srgbClr val="F36D25"/>
            </a:solidFill>
            <a:prstDash val="solid"/>
          </a:ln>
        </p:spPr>
        <p:txBody>
          <a:bodyPr/>
          <a:lstStyle/>
          <a:p>
            <a:endParaRPr lang="en-US"/>
          </a:p>
        </p:txBody>
      </p:sp>
      <p:sp>
        <p:nvSpPr>
          <p:cNvPr id="71" name="Text 67"/>
          <p:cNvSpPr/>
          <p:nvPr/>
        </p:nvSpPr>
        <p:spPr>
          <a:xfrm>
            <a:off x="1511336" y="20025360"/>
            <a:ext cx="7059640" cy="384048"/>
          </a:xfrm>
          <a:prstGeom prst="rect">
            <a:avLst/>
          </a:prstGeom>
          <a:noFill/>
          <a:ln/>
        </p:spPr>
        <p:txBody>
          <a:bodyPr wrap="square" lIns="0" tIns="0" rIns="0" bIns="0" rtlCol="0" anchor="ctr"/>
          <a:lstStyle/>
          <a:p>
            <a:pPr marL="0" indent="0">
              <a:buNone/>
            </a:pPr>
            <a:r>
              <a:rPr lang="en-US" sz="1850" b="1" dirty="0">
                <a:solidFill>
                  <a:srgbClr val="F8FCFE"/>
                </a:solidFill>
              </a:rPr>
              <a:t>SYSTEM INTERFACE &amp; KEY FEATURES</a:t>
            </a:r>
            <a:endParaRPr lang="en-US" sz="1850" dirty="0"/>
          </a:p>
        </p:txBody>
      </p:sp>
      <p:sp>
        <p:nvSpPr>
          <p:cNvPr id="24" name="Shape 35">
            <a:extLst>
              <a:ext uri="{FF2B5EF4-FFF2-40B4-BE49-F238E27FC236}">
                <a16:creationId xmlns:a16="http://schemas.microsoft.com/office/drawing/2014/main" id="{3880C7D8-0B8A-8511-B329-D70A4982DF80}"/>
              </a:ext>
            </a:extLst>
          </p:cNvPr>
          <p:cNvSpPr/>
          <p:nvPr/>
        </p:nvSpPr>
        <p:spPr>
          <a:xfrm>
            <a:off x="612648" y="9209307"/>
            <a:ext cx="347472" cy="1"/>
          </a:xfrm>
          <a:prstGeom prst="line">
            <a:avLst/>
          </a:prstGeom>
          <a:noFill/>
          <a:ln w="30480">
            <a:solidFill>
              <a:srgbClr val="2ED8D0"/>
            </a:solidFill>
            <a:prstDash val="solid"/>
          </a:ln>
        </p:spPr>
        <p:txBody>
          <a:bodyPr/>
          <a:lstStyle/>
          <a:p>
            <a:endParaRPr lang="en-US"/>
          </a:p>
        </p:txBody>
      </p:sp>
      <p:sp>
        <p:nvSpPr>
          <p:cNvPr id="36" name="Shape 35">
            <a:extLst>
              <a:ext uri="{FF2B5EF4-FFF2-40B4-BE49-F238E27FC236}">
                <a16:creationId xmlns:a16="http://schemas.microsoft.com/office/drawing/2014/main" id="{AD2AC817-77D5-8873-2028-ADD6B3A3CD71}"/>
              </a:ext>
            </a:extLst>
          </p:cNvPr>
          <p:cNvSpPr/>
          <p:nvPr/>
        </p:nvSpPr>
        <p:spPr>
          <a:xfrm>
            <a:off x="605714" y="9509759"/>
            <a:ext cx="347472" cy="1"/>
          </a:xfrm>
          <a:prstGeom prst="line">
            <a:avLst/>
          </a:prstGeom>
          <a:noFill/>
          <a:ln w="30480">
            <a:solidFill>
              <a:srgbClr val="2ED8D0"/>
            </a:solidFill>
            <a:prstDash val="solid"/>
          </a:ln>
        </p:spPr>
        <p:txBody>
          <a:bodyPr/>
          <a:lstStyle/>
          <a:p>
            <a:endParaRPr lang="en-US"/>
          </a:p>
        </p:txBody>
      </p:sp>
      <p:sp>
        <p:nvSpPr>
          <p:cNvPr id="88" name="Shape 35">
            <a:extLst>
              <a:ext uri="{FF2B5EF4-FFF2-40B4-BE49-F238E27FC236}">
                <a16:creationId xmlns:a16="http://schemas.microsoft.com/office/drawing/2014/main" id="{AB210EFA-0E40-70E2-D557-4831106103CF}"/>
              </a:ext>
            </a:extLst>
          </p:cNvPr>
          <p:cNvSpPr/>
          <p:nvPr/>
        </p:nvSpPr>
        <p:spPr>
          <a:xfrm>
            <a:off x="510121" y="4115337"/>
            <a:ext cx="347472" cy="99514"/>
          </a:xfrm>
          <a:prstGeom prst="line">
            <a:avLst/>
          </a:prstGeom>
          <a:noFill/>
          <a:ln w="30480">
            <a:solidFill>
              <a:srgbClr val="2ED8D0"/>
            </a:solidFill>
            <a:prstDash val="solid"/>
          </a:ln>
        </p:spPr>
        <p:txBody>
          <a:bodyPr/>
          <a:lstStyle/>
          <a:p>
            <a:endParaRPr lang="en-US"/>
          </a:p>
        </p:txBody>
      </p:sp>
      <p:sp>
        <p:nvSpPr>
          <p:cNvPr id="89" name="Shape 35">
            <a:extLst>
              <a:ext uri="{FF2B5EF4-FFF2-40B4-BE49-F238E27FC236}">
                <a16:creationId xmlns:a16="http://schemas.microsoft.com/office/drawing/2014/main" id="{07844188-A2D4-B644-C3A4-2BCA2C0F7B4C}"/>
              </a:ext>
            </a:extLst>
          </p:cNvPr>
          <p:cNvSpPr/>
          <p:nvPr/>
        </p:nvSpPr>
        <p:spPr>
          <a:xfrm>
            <a:off x="438912" y="4326825"/>
            <a:ext cx="347472" cy="99514"/>
          </a:xfrm>
          <a:prstGeom prst="line">
            <a:avLst/>
          </a:prstGeom>
          <a:noFill/>
          <a:ln w="30480">
            <a:solidFill>
              <a:srgbClr val="2ED8D0"/>
            </a:solidFill>
            <a:prstDash val="solid"/>
          </a:ln>
        </p:spPr>
        <p:txBody>
          <a:bodyPr/>
          <a:lstStyle/>
          <a:p>
            <a:endParaRPr lang="en-US"/>
          </a:p>
        </p:txBody>
      </p:sp>
      <p:sp>
        <p:nvSpPr>
          <p:cNvPr id="93" name="Shape 20">
            <a:extLst>
              <a:ext uri="{FF2B5EF4-FFF2-40B4-BE49-F238E27FC236}">
                <a16:creationId xmlns:a16="http://schemas.microsoft.com/office/drawing/2014/main" id="{F2214D1B-6348-8E36-3CB9-56365ED3427F}"/>
              </a:ext>
            </a:extLst>
          </p:cNvPr>
          <p:cNvSpPr/>
          <p:nvPr/>
        </p:nvSpPr>
        <p:spPr>
          <a:xfrm flipV="1">
            <a:off x="20235672" y="4115337"/>
            <a:ext cx="384048" cy="171680"/>
          </a:xfrm>
          <a:prstGeom prst="line">
            <a:avLst/>
          </a:prstGeom>
          <a:noFill/>
          <a:ln w="30480">
            <a:solidFill>
              <a:srgbClr val="FF9638"/>
            </a:solidFill>
            <a:prstDash val="solid"/>
          </a:ln>
        </p:spPr>
        <p:txBody>
          <a:bodyPr/>
          <a:lstStyle/>
          <a:p>
            <a:endParaRPr lang="en-US"/>
          </a:p>
        </p:txBody>
      </p:sp>
      <p:sp>
        <p:nvSpPr>
          <p:cNvPr id="95" name="Shape 20">
            <a:extLst>
              <a:ext uri="{FF2B5EF4-FFF2-40B4-BE49-F238E27FC236}">
                <a16:creationId xmlns:a16="http://schemas.microsoft.com/office/drawing/2014/main" id="{D0537B57-47E1-8461-945E-1D5756203130}"/>
              </a:ext>
            </a:extLst>
          </p:cNvPr>
          <p:cNvSpPr/>
          <p:nvPr/>
        </p:nvSpPr>
        <p:spPr>
          <a:xfrm flipV="1">
            <a:off x="20304252" y="4273322"/>
            <a:ext cx="384048" cy="171680"/>
          </a:xfrm>
          <a:prstGeom prst="line">
            <a:avLst/>
          </a:prstGeom>
          <a:noFill/>
          <a:ln w="30480">
            <a:solidFill>
              <a:srgbClr val="FF9638"/>
            </a:solidFill>
            <a:prstDash val="solid"/>
          </a:ln>
        </p:spPr>
        <p:txBody>
          <a:bodyPr/>
          <a:lstStyle/>
          <a:p>
            <a:endParaRPr lang="en-US"/>
          </a:p>
        </p:txBody>
      </p:sp>
      <p:pic>
        <p:nvPicPr>
          <p:cNvPr id="97" name="Picture 96">
            <a:extLst>
              <a:ext uri="{FF2B5EF4-FFF2-40B4-BE49-F238E27FC236}">
                <a16:creationId xmlns:a16="http://schemas.microsoft.com/office/drawing/2014/main" id="{93719586-8FAE-1FC0-9A7F-AB48D7AB333C}"/>
              </a:ext>
            </a:extLst>
          </p:cNvPr>
          <p:cNvPicPr>
            <a:picLocks noChangeAspect="1"/>
          </p:cNvPicPr>
          <p:nvPr/>
        </p:nvPicPr>
        <p:blipFill>
          <a:blip r:embed="rId11"/>
          <a:stretch>
            <a:fillRect/>
          </a:stretch>
        </p:blipFill>
        <p:spPr>
          <a:xfrm>
            <a:off x="777240" y="2870801"/>
            <a:ext cx="3570332" cy="927179"/>
          </a:xfrm>
          <a:prstGeom prst="rect">
            <a:avLst/>
          </a:prstGeom>
        </p:spPr>
      </p:pic>
      <p:pic>
        <p:nvPicPr>
          <p:cNvPr id="98" name="Picture 97">
            <a:extLst>
              <a:ext uri="{FF2B5EF4-FFF2-40B4-BE49-F238E27FC236}">
                <a16:creationId xmlns:a16="http://schemas.microsoft.com/office/drawing/2014/main" id="{CE966E03-0605-6D75-9F8B-6D0B9D16E09E}"/>
              </a:ext>
            </a:extLst>
          </p:cNvPr>
          <p:cNvPicPr>
            <a:picLocks noChangeAspect="1"/>
          </p:cNvPicPr>
          <p:nvPr/>
        </p:nvPicPr>
        <p:blipFill>
          <a:blip r:embed="rId12"/>
          <a:stretch>
            <a:fillRect/>
          </a:stretch>
        </p:blipFill>
        <p:spPr>
          <a:xfrm>
            <a:off x="209085" y="218480"/>
            <a:ext cx="20978154" cy="298303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422</Words>
  <Application>Microsoft Office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ArcherySec Final Year Project Poster</dc:title>
  <dc:subject>Editable academic poster</dc:subject>
  <dc:creator>IMMANUEL MILAD MOAWAD INDRAWES</dc:creator>
  <cp:lastModifiedBy>IMMANUEL MILAD MOAWAD INDRAWES</cp:lastModifiedBy>
  <cp:revision>102</cp:revision>
  <dcterms:created xsi:type="dcterms:W3CDTF">2026-08-28T02:25:08Z</dcterms:created>
  <dcterms:modified xsi:type="dcterms:W3CDTF">2026-08-31T10:56:50Z</dcterms:modified>
</cp:coreProperties>
</file>